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Fredoka" charset="1" panose="02000000000000000000"/>
      <p:regular r:id="rId22"/>
    </p:embeddedFont>
    <p:embeddedFont>
      <p:font typeface="Nunito Bold" charset="1" panose="00000000000000000000"/>
      <p:regular r:id="rId23"/>
    </p:embeddedFont>
    <p:embeddedFont>
      <p:font typeface="Nunito" charset="1" panose="00000000000000000000"/>
      <p:regular r:id="rId24"/>
    </p:embeddedFont>
    <p:embeddedFont>
      <p:font typeface="League Spartan" charset="1" panose="00000800000000000000"/>
      <p:regular r:id="rId25"/>
    </p:embeddedFont>
    <p:embeddedFont>
      <p:font typeface="Poppins" charset="1" panose="00000500000000000000"/>
      <p:regular r:id="rId26"/>
    </p:embeddedFont>
    <p:embeddedFont>
      <p:font typeface="Open Sans Bold" charset="1" panose="00000000000000000000"/>
      <p:regular r:id="rId27"/>
    </p:embeddedFont>
    <p:embeddedFont>
      <p:font typeface="Poppins Bold" charset="1" panose="000008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16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16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28.png" Type="http://schemas.openxmlformats.org/officeDocument/2006/relationships/image"/><Relationship Id="rId15" Target="../media/image2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16" Target="../media/image3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16" Target="../media/image3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16" Target="../media/image3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3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3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9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0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76615" y="8208588"/>
            <a:ext cx="19974277" cy="1565643"/>
          </a:xfrm>
          <a:custGeom>
            <a:avLst/>
            <a:gdLst/>
            <a:ahLst/>
            <a:cxnLst/>
            <a:rect r="r" b="b" t="t" l="l"/>
            <a:pathLst>
              <a:path h="1565643" w="19974277">
                <a:moveTo>
                  <a:pt x="0" y="0"/>
                </a:moveTo>
                <a:lnTo>
                  <a:pt x="19974277" y="0"/>
                </a:lnTo>
                <a:lnTo>
                  <a:pt x="19974277" y="1565643"/>
                </a:lnTo>
                <a:lnTo>
                  <a:pt x="0" y="1565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339309" y="4117753"/>
            <a:ext cx="2942272" cy="2942272"/>
          </a:xfrm>
          <a:custGeom>
            <a:avLst/>
            <a:gdLst/>
            <a:ahLst/>
            <a:cxnLst/>
            <a:rect r="r" b="b" t="t" l="l"/>
            <a:pathLst>
              <a:path h="2942272" w="2942272">
                <a:moveTo>
                  <a:pt x="0" y="0"/>
                </a:moveTo>
                <a:lnTo>
                  <a:pt x="2942273" y="0"/>
                </a:lnTo>
                <a:lnTo>
                  <a:pt x="2942273" y="2942272"/>
                </a:lnTo>
                <a:lnTo>
                  <a:pt x="0" y="29422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99940" y="6010599"/>
            <a:ext cx="3395205" cy="1049426"/>
          </a:xfrm>
          <a:custGeom>
            <a:avLst/>
            <a:gdLst/>
            <a:ahLst/>
            <a:cxnLst/>
            <a:rect r="r" b="b" t="t" l="l"/>
            <a:pathLst>
              <a:path h="1049426" w="3395205">
                <a:moveTo>
                  <a:pt x="0" y="0"/>
                </a:moveTo>
                <a:lnTo>
                  <a:pt x="3395206" y="0"/>
                </a:lnTo>
                <a:lnTo>
                  <a:pt x="3395206" y="1049426"/>
                </a:lnTo>
                <a:lnTo>
                  <a:pt x="0" y="1049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49" r="0" b="-74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16950" y="2432171"/>
            <a:ext cx="14950735" cy="357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40"/>
              </a:lnSpc>
            </a:pPr>
            <a:r>
              <a:rPr lang="en-US" sz="10243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MENTAL HEALTH</a:t>
            </a:r>
            <a:r>
              <a:rPr lang="en-US" sz="10243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33838" y="5934399"/>
            <a:ext cx="9907095" cy="76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3"/>
              </a:lnSpc>
            </a:pPr>
            <a:r>
              <a:rPr lang="en-US" sz="4001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An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7296" y="8743950"/>
            <a:ext cx="560739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Anuja Alluri &amp; Makaela Bennett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216914" y="-911619"/>
            <a:ext cx="2942272" cy="2942272"/>
          </a:xfrm>
          <a:custGeom>
            <a:avLst/>
            <a:gdLst/>
            <a:ahLst/>
            <a:cxnLst/>
            <a:rect r="r" b="b" t="t" l="l"/>
            <a:pathLst>
              <a:path h="2942272" w="2942272">
                <a:moveTo>
                  <a:pt x="0" y="0"/>
                </a:moveTo>
                <a:lnTo>
                  <a:pt x="2942272" y="0"/>
                </a:lnTo>
                <a:lnTo>
                  <a:pt x="2942272" y="2942273"/>
                </a:lnTo>
                <a:lnTo>
                  <a:pt x="0" y="2942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9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0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16864" y="-1192292"/>
            <a:ext cx="2942272" cy="2942272"/>
          </a:xfrm>
          <a:custGeom>
            <a:avLst/>
            <a:gdLst/>
            <a:ahLst/>
            <a:cxnLst/>
            <a:rect r="r" b="b" t="t" l="l"/>
            <a:pathLst>
              <a:path h="2942272" w="2942272">
                <a:moveTo>
                  <a:pt x="0" y="0"/>
                </a:moveTo>
                <a:lnTo>
                  <a:pt x="2942272" y="0"/>
                </a:lnTo>
                <a:lnTo>
                  <a:pt x="2942272" y="2942273"/>
                </a:lnTo>
                <a:lnTo>
                  <a:pt x="0" y="2942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95573" y="4179399"/>
            <a:ext cx="7025088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TABLE OF CONTENTS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843139" y="8851097"/>
            <a:ext cx="19974277" cy="1565643"/>
          </a:xfrm>
          <a:custGeom>
            <a:avLst/>
            <a:gdLst/>
            <a:ahLst/>
            <a:cxnLst/>
            <a:rect r="r" b="b" t="t" l="l"/>
            <a:pathLst>
              <a:path h="1565643" w="19974277">
                <a:moveTo>
                  <a:pt x="0" y="0"/>
                </a:moveTo>
                <a:lnTo>
                  <a:pt x="19974278" y="0"/>
                </a:lnTo>
                <a:lnTo>
                  <a:pt x="19974278" y="1565643"/>
                </a:lnTo>
                <a:lnTo>
                  <a:pt x="0" y="1565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336129" y="8006001"/>
            <a:ext cx="3395205" cy="1049426"/>
          </a:xfrm>
          <a:custGeom>
            <a:avLst/>
            <a:gdLst/>
            <a:ahLst/>
            <a:cxnLst/>
            <a:rect r="r" b="b" t="t" l="l"/>
            <a:pathLst>
              <a:path h="1049426" w="3395205">
                <a:moveTo>
                  <a:pt x="0" y="0"/>
                </a:moveTo>
                <a:lnTo>
                  <a:pt x="3395205" y="0"/>
                </a:lnTo>
                <a:lnTo>
                  <a:pt x="3395205" y="1049426"/>
                </a:lnTo>
                <a:lnTo>
                  <a:pt x="0" y="1049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49" r="0" b="-74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0187880" y="2439551"/>
            <a:ext cx="510940" cy="453342"/>
          </a:xfrm>
          <a:custGeom>
            <a:avLst/>
            <a:gdLst/>
            <a:ahLst/>
            <a:cxnLst/>
            <a:rect r="r" b="b" t="t" l="l"/>
            <a:pathLst>
              <a:path h="453342" w="510940">
                <a:moveTo>
                  <a:pt x="0" y="0"/>
                </a:moveTo>
                <a:lnTo>
                  <a:pt x="510940" y="0"/>
                </a:lnTo>
                <a:lnTo>
                  <a:pt x="510940" y="453342"/>
                </a:lnTo>
                <a:lnTo>
                  <a:pt x="0" y="4533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90" r="0" b="-9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10187880" y="3072268"/>
            <a:ext cx="510940" cy="453342"/>
          </a:xfrm>
          <a:custGeom>
            <a:avLst/>
            <a:gdLst/>
            <a:ahLst/>
            <a:cxnLst/>
            <a:rect r="r" b="b" t="t" l="l"/>
            <a:pathLst>
              <a:path h="453342" w="510940">
                <a:moveTo>
                  <a:pt x="0" y="0"/>
                </a:moveTo>
                <a:lnTo>
                  <a:pt x="510940" y="0"/>
                </a:lnTo>
                <a:lnTo>
                  <a:pt x="510940" y="453342"/>
                </a:lnTo>
                <a:lnTo>
                  <a:pt x="0" y="4533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90" r="0" b="-9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0187880" y="3714500"/>
            <a:ext cx="510940" cy="453342"/>
          </a:xfrm>
          <a:custGeom>
            <a:avLst/>
            <a:gdLst/>
            <a:ahLst/>
            <a:cxnLst/>
            <a:rect r="r" b="b" t="t" l="l"/>
            <a:pathLst>
              <a:path h="453342" w="510940">
                <a:moveTo>
                  <a:pt x="0" y="0"/>
                </a:moveTo>
                <a:lnTo>
                  <a:pt x="510940" y="0"/>
                </a:lnTo>
                <a:lnTo>
                  <a:pt x="510940" y="453343"/>
                </a:lnTo>
                <a:lnTo>
                  <a:pt x="0" y="4533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90" r="0" b="-9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938612" y="2316707"/>
            <a:ext cx="6542932" cy="63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5"/>
              </a:lnSpc>
            </a:pPr>
            <a:r>
              <a:rPr lang="en-US" b="true" sz="3353" spc="-67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Project overview</a:t>
            </a:r>
            <a:r>
              <a:rPr lang="en-US" sz="3353" spc="-6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...............................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20690" y="2340614"/>
            <a:ext cx="660854" cy="65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35"/>
              </a:lnSpc>
            </a:pPr>
            <a:r>
              <a:rPr lang="en-US" sz="3453" spc="-6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38612" y="2949414"/>
            <a:ext cx="6542932" cy="63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5"/>
              </a:lnSpc>
            </a:pPr>
            <a:r>
              <a:rPr lang="en-US" b="true" sz="3353" spc="-67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Dataset overview</a:t>
            </a:r>
            <a:r>
              <a:rPr lang="en-US" sz="3353" spc="-6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..............................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20690" y="2973322"/>
            <a:ext cx="660854" cy="5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35"/>
              </a:lnSpc>
            </a:pPr>
            <a:r>
              <a:rPr lang="en-US" sz="3453" spc="-6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38612" y="3591647"/>
            <a:ext cx="6542932" cy="63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5"/>
              </a:lnSpc>
            </a:pPr>
            <a:r>
              <a:rPr lang="en-US" b="true" sz="3353" spc="-67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Analysis </a:t>
            </a:r>
            <a:r>
              <a:rPr lang="en-US" sz="3353" spc="-6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................................................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20690" y="3615564"/>
            <a:ext cx="660854" cy="5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35"/>
              </a:lnSpc>
            </a:pPr>
            <a:r>
              <a:rPr lang="en-US" sz="3453" spc="-6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06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5400000">
            <a:off x="10029364" y="6383024"/>
            <a:ext cx="510940" cy="453342"/>
          </a:xfrm>
          <a:custGeom>
            <a:avLst/>
            <a:gdLst/>
            <a:ahLst/>
            <a:cxnLst/>
            <a:rect r="r" b="b" t="t" l="l"/>
            <a:pathLst>
              <a:path h="453342" w="510940">
                <a:moveTo>
                  <a:pt x="0" y="0"/>
                </a:moveTo>
                <a:lnTo>
                  <a:pt x="510940" y="0"/>
                </a:lnTo>
                <a:lnTo>
                  <a:pt x="510940" y="453343"/>
                </a:lnTo>
                <a:lnTo>
                  <a:pt x="0" y="4533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90" r="0" b="-9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780096" y="6260171"/>
            <a:ext cx="6542932" cy="63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5"/>
              </a:lnSpc>
            </a:pPr>
            <a:r>
              <a:rPr lang="en-US" b="true" sz="3353" spc="-67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Summary </a:t>
            </a:r>
            <a:r>
              <a:rPr lang="en-US" sz="3353" spc="-6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.............................................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662174" y="6284088"/>
            <a:ext cx="660854" cy="5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35"/>
              </a:lnSpc>
            </a:pPr>
            <a:r>
              <a:rPr lang="en-US" sz="3453" spc="-6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18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5400000">
            <a:off x="11055366" y="4458831"/>
            <a:ext cx="402669" cy="357273"/>
          </a:xfrm>
          <a:custGeom>
            <a:avLst/>
            <a:gdLst/>
            <a:ahLst/>
            <a:cxnLst/>
            <a:rect r="r" b="b" t="t" l="l"/>
            <a:pathLst>
              <a:path h="357273" w="402669">
                <a:moveTo>
                  <a:pt x="0" y="0"/>
                </a:moveTo>
                <a:lnTo>
                  <a:pt x="402669" y="0"/>
                </a:lnTo>
                <a:lnTo>
                  <a:pt x="402669" y="357274"/>
                </a:lnTo>
                <a:lnTo>
                  <a:pt x="0" y="3572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01" t="0" r="-201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5400000">
            <a:off x="11054614" y="4974201"/>
            <a:ext cx="402669" cy="357273"/>
          </a:xfrm>
          <a:custGeom>
            <a:avLst/>
            <a:gdLst/>
            <a:ahLst/>
            <a:cxnLst/>
            <a:rect r="r" b="b" t="t" l="l"/>
            <a:pathLst>
              <a:path h="357273" w="402669">
                <a:moveTo>
                  <a:pt x="0" y="0"/>
                </a:moveTo>
                <a:lnTo>
                  <a:pt x="402669" y="0"/>
                </a:lnTo>
                <a:lnTo>
                  <a:pt x="402669" y="357273"/>
                </a:lnTo>
                <a:lnTo>
                  <a:pt x="0" y="3572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01" t="0" r="-201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729384" y="4375088"/>
            <a:ext cx="3922424" cy="513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5"/>
              </a:lnSpc>
            </a:pPr>
            <a:r>
              <a:rPr lang="en-US" b="true" sz="2653" spc="-53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Data cleaning</a:t>
            </a:r>
            <a:r>
              <a:rPr lang="en-US" sz="2653" spc="-5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...................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990953" y="4362296"/>
            <a:ext cx="660854" cy="472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55"/>
              </a:lnSpc>
            </a:pPr>
            <a:r>
              <a:rPr lang="en-US" sz="2752" spc="-5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28622" y="4887485"/>
            <a:ext cx="4143023" cy="513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5"/>
              </a:lnSpc>
            </a:pPr>
            <a:r>
              <a:rPr lang="en-US" b="true" sz="2653" spc="-53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Descriptive analysis</a:t>
            </a:r>
            <a:r>
              <a:rPr lang="en-US" sz="2653" spc="-5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.......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245290" y="4874703"/>
            <a:ext cx="405765" cy="472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55"/>
              </a:lnSpc>
            </a:pPr>
            <a:r>
              <a:rPr lang="en-US" sz="2752" spc="-5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07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5400000">
            <a:off x="11058262" y="5621367"/>
            <a:ext cx="399602" cy="354549"/>
          </a:xfrm>
          <a:custGeom>
            <a:avLst/>
            <a:gdLst/>
            <a:ahLst/>
            <a:cxnLst/>
            <a:rect r="r" b="b" t="t" l="l"/>
            <a:pathLst>
              <a:path h="354549" w="399602">
                <a:moveTo>
                  <a:pt x="0" y="0"/>
                </a:moveTo>
                <a:lnTo>
                  <a:pt x="399602" y="0"/>
                </a:lnTo>
                <a:lnTo>
                  <a:pt x="399602" y="354549"/>
                </a:lnTo>
                <a:lnTo>
                  <a:pt x="0" y="3545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985" r="0" b="-985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728622" y="5541691"/>
            <a:ext cx="4652524" cy="456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5"/>
              </a:lnSpc>
            </a:pPr>
            <a:r>
              <a:rPr lang="en-US" b="true" sz="2653" spc="-53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Machine learning</a:t>
            </a:r>
            <a:r>
              <a:rPr lang="en-US" sz="2653" spc="-5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............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990953" y="5549063"/>
            <a:ext cx="660854" cy="472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55"/>
              </a:lnSpc>
            </a:pPr>
            <a:r>
              <a:rPr lang="en-US" sz="2752" spc="-5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15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9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0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2726" y="1361284"/>
            <a:ext cx="16230600" cy="7121290"/>
          </a:xfrm>
          <a:custGeom>
            <a:avLst/>
            <a:gdLst/>
            <a:ahLst/>
            <a:cxnLst/>
            <a:rect r="r" b="b" t="t" l="l"/>
            <a:pathLst>
              <a:path h="7121290" w="16230600">
                <a:moveTo>
                  <a:pt x="0" y="0"/>
                </a:moveTo>
                <a:lnTo>
                  <a:pt x="16230600" y="0"/>
                </a:lnTo>
                <a:lnTo>
                  <a:pt x="16230600" y="7121290"/>
                </a:lnTo>
                <a:lnTo>
                  <a:pt x="0" y="7121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82992" y="-657644"/>
            <a:ext cx="1949377" cy="1949377"/>
          </a:xfrm>
          <a:custGeom>
            <a:avLst/>
            <a:gdLst/>
            <a:ahLst/>
            <a:cxnLst/>
            <a:rect r="r" b="b" t="t" l="l"/>
            <a:pathLst>
              <a:path h="1949377" w="1949377">
                <a:moveTo>
                  <a:pt x="0" y="0"/>
                </a:moveTo>
                <a:lnTo>
                  <a:pt x="1949377" y="0"/>
                </a:lnTo>
                <a:lnTo>
                  <a:pt x="1949377" y="1949377"/>
                </a:lnTo>
                <a:lnTo>
                  <a:pt x="0" y="19493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84877" y="1028700"/>
            <a:ext cx="3395205" cy="1049426"/>
          </a:xfrm>
          <a:custGeom>
            <a:avLst/>
            <a:gdLst/>
            <a:ahLst/>
            <a:cxnLst/>
            <a:rect r="r" b="b" t="t" l="l"/>
            <a:pathLst>
              <a:path h="1049426" w="3395205">
                <a:moveTo>
                  <a:pt x="0" y="0"/>
                </a:moveTo>
                <a:lnTo>
                  <a:pt x="3395206" y="0"/>
                </a:lnTo>
                <a:lnTo>
                  <a:pt x="3395206" y="1049426"/>
                </a:lnTo>
                <a:lnTo>
                  <a:pt x="0" y="1049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49" r="0" b="-74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43134" y="8935841"/>
            <a:ext cx="19974277" cy="1565643"/>
          </a:xfrm>
          <a:custGeom>
            <a:avLst/>
            <a:gdLst/>
            <a:ahLst/>
            <a:cxnLst/>
            <a:rect r="r" b="b" t="t" l="l"/>
            <a:pathLst>
              <a:path h="1565643" w="19974277">
                <a:moveTo>
                  <a:pt x="0" y="0"/>
                </a:moveTo>
                <a:lnTo>
                  <a:pt x="19974277" y="0"/>
                </a:lnTo>
                <a:lnTo>
                  <a:pt x="19974277" y="1565643"/>
                </a:lnTo>
                <a:lnTo>
                  <a:pt x="0" y="15656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75055" y="2859087"/>
            <a:ext cx="14629181" cy="520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3"/>
              </a:lnSpc>
            </a:pP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Mental health plays a key role in how people think, feel, and live their daily lives. It is influenced by several lifestyle and personal factors.</a:t>
            </a:r>
          </a:p>
          <a:p>
            <a:pPr algn="l">
              <a:lnSpc>
                <a:spcPts val="5983"/>
              </a:lnSpc>
            </a:pP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 this project, we aim to:</a:t>
            </a:r>
          </a:p>
          <a:p>
            <a:pPr algn="l" marL="755434" indent="-377717" lvl="1">
              <a:lnSpc>
                <a:spcPts val="5983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Identify key factors that affect mental health risk</a:t>
            </a:r>
          </a:p>
          <a:p>
            <a:pPr algn="l" marL="755434" indent="-377717" lvl="1">
              <a:lnSpc>
                <a:spcPts val="5983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Understand how these factors interact</a:t>
            </a:r>
          </a:p>
          <a:p>
            <a:pPr algn="l" marL="755434" indent="-377717" lvl="1">
              <a:lnSpc>
                <a:spcPts val="5983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Build a model that can predict risk levels early for timely support</a:t>
            </a:r>
          </a:p>
          <a:p>
            <a:pPr algn="l">
              <a:lnSpc>
                <a:spcPts val="598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827756" y="1887626"/>
            <a:ext cx="9200559" cy="82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O</a:t>
            </a:r>
            <a:r>
              <a:rPr lang="en-US" sz="4800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9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0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2726" y="1361284"/>
            <a:ext cx="16230600" cy="7121290"/>
          </a:xfrm>
          <a:custGeom>
            <a:avLst/>
            <a:gdLst/>
            <a:ahLst/>
            <a:cxnLst/>
            <a:rect r="r" b="b" t="t" l="l"/>
            <a:pathLst>
              <a:path h="7121290" w="16230600">
                <a:moveTo>
                  <a:pt x="0" y="0"/>
                </a:moveTo>
                <a:lnTo>
                  <a:pt x="16230600" y="0"/>
                </a:lnTo>
                <a:lnTo>
                  <a:pt x="16230600" y="7121290"/>
                </a:lnTo>
                <a:lnTo>
                  <a:pt x="0" y="7121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82992" y="-657644"/>
            <a:ext cx="1949377" cy="1949377"/>
          </a:xfrm>
          <a:custGeom>
            <a:avLst/>
            <a:gdLst/>
            <a:ahLst/>
            <a:cxnLst/>
            <a:rect r="r" b="b" t="t" l="l"/>
            <a:pathLst>
              <a:path h="1949377" w="1949377">
                <a:moveTo>
                  <a:pt x="0" y="0"/>
                </a:moveTo>
                <a:lnTo>
                  <a:pt x="1949377" y="0"/>
                </a:lnTo>
                <a:lnTo>
                  <a:pt x="1949377" y="1949377"/>
                </a:lnTo>
                <a:lnTo>
                  <a:pt x="0" y="19493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84877" y="1028700"/>
            <a:ext cx="3395205" cy="1049426"/>
          </a:xfrm>
          <a:custGeom>
            <a:avLst/>
            <a:gdLst/>
            <a:ahLst/>
            <a:cxnLst/>
            <a:rect r="r" b="b" t="t" l="l"/>
            <a:pathLst>
              <a:path h="1049426" w="3395205">
                <a:moveTo>
                  <a:pt x="0" y="0"/>
                </a:moveTo>
                <a:lnTo>
                  <a:pt x="3395206" y="0"/>
                </a:lnTo>
                <a:lnTo>
                  <a:pt x="3395206" y="1049426"/>
                </a:lnTo>
                <a:lnTo>
                  <a:pt x="0" y="1049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49" r="0" b="-74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43134" y="8935841"/>
            <a:ext cx="19974277" cy="1565643"/>
          </a:xfrm>
          <a:custGeom>
            <a:avLst/>
            <a:gdLst/>
            <a:ahLst/>
            <a:cxnLst/>
            <a:rect r="r" b="b" t="t" l="l"/>
            <a:pathLst>
              <a:path h="1565643" w="19974277">
                <a:moveTo>
                  <a:pt x="0" y="0"/>
                </a:moveTo>
                <a:lnTo>
                  <a:pt x="19974277" y="0"/>
                </a:lnTo>
                <a:lnTo>
                  <a:pt x="19974277" y="1565643"/>
                </a:lnTo>
                <a:lnTo>
                  <a:pt x="0" y="15656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13445" y="2746781"/>
            <a:ext cx="14629181" cy="244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8"/>
              </a:lnSpc>
            </a:pPr>
            <a:r>
              <a:rPr lang="en-US" sz="34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mental health dataset is a well-known synthetic dataset in the field of data science and consists of survey-based measurements from 10,000 i</a:t>
            </a:r>
            <a:r>
              <a:rPr lang="en-US" sz="34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nd</a:t>
            </a:r>
            <a:r>
              <a:rPr lang="en-US" sz="34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ividuals, categorized into certain features.</a:t>
            </a:r>
          </a:p>
          <a:p>
            <a:pPr algn="l" marL="799979" indent="-266660" lvl="2">
              <a:lnSpc>
                <a:spcPts val="4898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943262" y="4921929"/>
            <a:ext cx="14969547" cy="2713230"/>
          </a:xfrm>
          <a:custGeom>
            <a:avLst/>
            <a:gdLst/>
            <a:ahLst/>
            <a:cxnLst/>
            <a:rect r="r" b="b" t="t" l="l"/>
            <a:pathLst>
              <a:path h="2713230" w="14969547">
                <a:moveTo>
                  <a:pt x="0" y="0"/>
                </a:moveTo>
                <a:lnTo>
                  <a:pt x="14969547" y="0"/>
                </a:lnTo>
                <a:lnTo>
                  <a:pt x="14969547" y="2713231"/>
                </a:lnTo>
                <a:lnTo>
                  <a:pt x="0" y="27132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827756" y="1887626"/>
            <a:ext cx="9200559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 </a:t>
            </a:r>
            <a:r>
              <a:rPr lang="en-US" sz="4800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OVERVIEW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9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0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2726" y="1361284"/>
            <a:ext cx="16230600" cy="7121290"/>
          </a:xfrm>
          <a:custGeom>
            <a:avLst/>
            <a:gdLst/>
            <a:ahLst/>
            <a:cxnLst/>
            <a:rect r="r" b="b" t="t" l="l"/>
            <a:pathLst>
              <a:path h="7121290" w="16230600">
                <a:moveTo>
                  <a:pt x="0" y="0"/>
                </a:moveTo>
                <a:lnTo>
                  <a:pt x="16230600" y="0"/>
                </a:lnTo>
                <a:lnTo>
                  <a:pt x="16230600" y="7121290"/>
                </a:lnTo>
                <a:lnTo>
                  <a:pt x="0" y="7121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82992" y="-657644"/>
            <a:ext cx="1949377" cy="1949377"/>
          </a:xfrm>
          <a:custGeom>
            <a:avLst/>
            <a:gdLst/>
            <a:ahLst/>
            <a:cxnLst/>
            <a:rect r="r" b="b" t="t" l="l"/>
            <a:pathLst>
              <a:path h="1949377" w="1949377">
                <a:moveTo>
                  <a:pt x="0" y="0"/>
                </a:moveTo>
                <a:lnTo>
                  <a:pt x="1949377" y="0"/>
                </a:lnTo>
                <a:lnTo>
                  <a:pt x="1949377" y="1949377"/>
                </a:lnTo>
                <a:lnTo>
                  <a:pt x="0" y="19493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84877" y="1028700"/>
            <a:ext cx="3395205" cy="1049426"/>
          </a:xfrm>
          <a:custGeom>
            <a:avLst/>
            <a:gdLst/>
            <a:ahLst/>
            <a:cxnLst/>
            <a:rect r="r" b="b" t="t" l="l"/>
            <a:pathLst>
              <a:path h="1049426" w="3395205">
                <a:moveTo>
                  <a:pt x="0" y="0"/>
                </a:moveTo>
                <a:lnTo>
                  <a:pt x="3395206" y="0"/>
                </a:lnTo>
                <a:lnTo>
                  <a:pt x="3395206" y="1049426"/>
                </a:lnTo>
                <a:lnTo>
                  <a:pt x="0" y="1049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49" r="0" b="-74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43134" y="8935841"/>
            <a:ext cx="19974277" cy="1565643"/>
          </a:xfrm>
          <a:custGeom>
            <a:avLst/>
            <a:gdLst/>
            <a:ahLst/>
            <a:cxnLst/>
            <a:rect r="r" b="b" t="t" l="l"/>
            <a:pathLst>
              <a:path h="1565643" w="19974277">
                <a:moveTo>
                  <a:pt x="0" y="0"/>
                </a:moveTo>
                <a:lnTo>
                  <a:pt x="19974277" y="0"/>
                </a:lnTo>
                <a:lnTo>
                  <a:pt x="19974277" y="1565643"/>
                </a:lnTo>
                <a:lnTo>
                  <a:pt x="0" y="15656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37173" y="3380686"/>
            <a:ext cx="11973999" cy="492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434" indent="-377717" lvl="1">
              <a:lnSpc>
                <a:spcPts val="4898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ontains 10,000 </a:t>
            </a: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diver</a:t>
            </a: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se</a:t>
            </a: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an</a:t>
            </a: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</a:t>
            </a: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anonymized records</a:t>
            </a:r>
          </a:p>
          <a:p>
            <a:pPr algn="l" marL="755434" indent="-377717" lvl="1">
              <a:lnSpc>
                <a:spcPts val="4898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Datas</a:t>
            </a: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et includes features related to mental health and lifestyle</a:t>
            </a:r>
          </a:p>
          <a:p>
            <a:pPr algn="l" marL="755434" indent="-377717" lvl="1">
              <a:lnSpc>
                <a:spcPts val="4898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Includes key features like </a:t>
            </a: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stress, sleep, depression, anxiety, and support levels</a:t>
            </a:r>
          </a:p>
          <a:p>
            <a:pPr algn="l" marL="755434" indent="-377717" lvl="1">
              <a:lnSpc>
                <a:spcPts val="4898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 is suitable for classification and pattern detection tasks</a:t>
            </a:r>
          </a:p>
          <a:p>
            <a:pPr algn="l">
              <a:lnSpc>
                <a:spcPts val="4898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827756" y="1887626"/>
            <a:ext cx="9200559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 </a:t>
            </a:r>
            <a:r>
              <a:rPr lang="en-US" sz="4800">
                <a:solidFill>
                  <a:srgbClr val="73737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OBSERVATIONS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9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0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411605" y="9237574"/>
            <a:ext cx="3395205" cy="1049426"/>
          </a:xfrm>
          <a:custGeom>
            <a:avLst/>
            <a:gdLst/>
            <a:ahLst/>
            <a:cxnLst/>
            <a:rect r="r" b="b" t="t" l="l"/>
            <a:pathLst>
              <a:path h="1049426" w="3395205">
                <a:moveTo>
                  <a:pt x="3395205" y="0"/>
                </a:moveTo>
                <a:lnTo>
                  <a:pt x="0" y="0"/>
                </a:lnTo>
                <a:lnTo>
                  <a:pt x="0" y="1049426"/>
                </a:lnTo>
                <a:lnTo>
                  <a:pt x="3395205" y="1049426"/>
                </a:lnTo>
                <a:lnTo>
                  <a:pt x="339520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4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16864" y="-1154001"/>
            <a:ext cx="2942272" cy="2942272"/>
          </a:xfrm>
          <a:custGeom>
            <a:avLst/>
            <a:gdLst/>
            <a:ahLst/>
            <a:cxnLst/>
            <a:rect r="r" b="b" t="t" l="l"/>
            <a:pathLst>
              <a:path h="2942272" w="2942272">
                <a:moveTo>
                  <a:pt x="0" y="0"/>
                </a:moveTo>
                <a:lnTo>
                  <a:pt x="2942272" y="0"/>
                </a:lnTo>
                <a:lnTo>
                  <a:pt x="2942272" y="2942272"/>
                </a:lnTo>
                <a:lnTo>
                  <a:pt x="0" y="29422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6824" y="603480"/>
            <a:ext cx="16321026" cy="16664721"/>
          </a:xfrm>
          <a:custGeom>
            <a:avLst/>
            <a:gdLst/>
            <a:ahLst/>
            <a:cxnLst/>
            <a:rect r="r" b="b" t="t" l="l"/>
            <a:pathLst>
              <a:path h="16664721" w="16321026">
                <a:moveTo>
                  <a:pt x="0" y="0"/>
                </a:moveTo>
                <a:lnTo>
                  <a:pt x="16321027" y="0"/>
                </a:lnTo>
                <a:lnTo>
                  <a:pt x="16321027" y="16664721"/>
                </a:lnTo>
                <a:lnTo>
                  <a:pt x="0" y="166647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43134" y="8935841"/>
            <a:ext cx="19974277" cy="1565643"/>
          </a:xfrm>
          <a:custGeom>
            <a:avLst/>
            <a:gdLst/>
            <a:ahLst/>
            <a:cxnLst/>
            <a:rect r="r" b="b" t="t" l="l"/>
            <a:pathLst>
              <a:path h="1565643" w="19974277">
                <a:moveTo>
                  <a:pt x="0" y="0"/>
                </a:moveTo>
                <a:lnTo>
                  <a:pt x="19974277" y="0"/>
                </a:lnTo>
                <a:lnTo>
                  <a:pt x="19974277" y="1565643"/>
                </a:lnTo>
                <a:lnTo>
                  <a:pt x="0" y="15656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42928" y="2109943"/>
            <a:ext cx="15468819" cy="656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There are 13 columns of data: </a:t>
            </a:r>
          </a:p>
          <a:p>
            <a:pPr algn="l" marL="685957" indent="-228652" lvl="2">
              <a:lnSpc>
                <a:spcPts val="4201"/>
              </a:lnSpc>
              <a:buFont typeface="Arial"/>
              <a:buChar char="⚬"/>
            </a:pP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Numerical columns</a:t>
            </a:r>
          </a:p>
          <a:p>
            <a:pPr algn="l" marL="685800" indent="-228600" lvl="2">
              <a:lnSpc>
                <a:spcPts val="4200"/>
              </a:lnSpc>
              <a:buFont typeface="Arial"/>
              <a:buChar char="⚬"/>
            </a:pPr>
            <a:r>
              <a:rPr lang="en-US" sz="3000" spc="-56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2 String columns</a:t>
            </a:r>
          </a:p>
          <a:p>
            <a:pPr algn="l" marL="685957" indent="-228652" lvl="2">
              <a:lnSpc>
                <a:spcPts val="4201"/>
              </a:lnSpc>
              <a:buFont typeface="Arial"/>
              <a:buChar char="⚬"/>
            </a:pP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3 Categorical columns</a:t>
            </a:r>
          </a:p>
          <a:p>
            <a:pPr algn="l" marL="685957" indent="-228652" lvl="2">
              <a:lnSpc>
                <a:spcPts val="4201"/>
              </a:lnSpc>
            </a:pPr>
          </a:p>
          <a:p>
            <a:pPr algn="l" marL="647700" indent="-323850" lvl="1">
              <a:lnSpc>
                <a:spcPts val="6630"/>
              </a:lnSpc>
              <a:buFont typeface="Arial"/>
              <a:buChar char="•"/>
            </a:pPr>
            <a:r>
              <a:rPr lang="en-US" sz="3000" spc="-56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Checked dataset for missing or null values</a:t>
            </a:r>
          </a:p>
          <a:p>
            <a:pPr algn="l" marL="647700" indent="-323850" lvl="1">
              <a:lnSpc>
                <a:spcPts val="6630"/>
              </a:lnSpc>
              <a:buFont typeface="Arial"/>
              <a:buChar char="•"/>
            </a:pPr>
            <a:r>
              <a:rPr lang="en-US" sz="3000" spc="-56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Verified data types for each feature</a:t>
            </a:r>
          </a:p>
          <a:p>
            <a:pPr algn="l" marL="647700" indent="-323850" lvl="1">
              <a:lnSpc>
                <a:spcPts val="6630"/>
              </a:lnSpc>
              <a:buFont typeface="Arial"/>
              <a:buChar char="•"/>
            </a:pPr>
            <a:r>
              <a:rPr lang="en-US" sz="3000" spc="-56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Encoded categorical/string variables into numerical format </a:t>
            </a:r>
          </a:p>
          <a:p>
            <a:pPr algn="l" marL="647700" indent="-323850" lvl="1">
              <a:lnSpc>
                <a:spcPts val="6630"/>
              </a:lnSpc>
              <a:buFont typeface="Arial"/>
              <a:buChar char="•"/>
            </a:pP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Scaled numerical features u</a:t>
            </a: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n</a:t>
            </a: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mal</a:t>
            </a: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z</a:t>
            </a: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ation</a:t>
            </a: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standardi</a:t>
            </a: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z</a:t>
            </a:r>
            <a:r>
              <a:rPr lang="en-US" sz="3000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ation </a:t>
            </a:r>
          </a:p>
          <a:p>
            <a:pPr algn="l" marL="685957" indent="-228652" lvl="2">
              <a:lnSpc>
                <a:spcPts val="420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48045" y="923925"/>
            <a:ext cx="7447036" cy="100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299" b="true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cleaning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9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0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411605" y="9237574"/>
            <a:ext cx="3395205" cy="1049426"/>
          </a:xfrm>
          <a:custGeom>
            <a:avLst/>
            <a:gdLst/>
            <a:ahLst/>
            <a:cxnLst/>
            <a:rect r="r" b="b" t="t" l="l"/>
            <a:pathLst>
              <a:path h="1049426" w="3395205">
                <a:moveTo>
                  <a:pt x="3395205" y="0"/>
                </a:moveTo>
                <a:lnTo>
                  <a:pt x="0" y="0"/>
                </a:lnTo>
                <a:lnTo>
                  <a:pt x="0" y="1049426"/>
                </a:lnTo>
                <a:lnTo>
                  <a:pt x="3395205" y="1049426"/>
                </a:lnTo>
                <a:lnTo>
                  <a:pt x="339520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4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16864" y="-1154001"/>
            <a:ext cx="2942272" cy="2942272"/>
          </a:xfrm>
          <a:custGeom>
            <a:avLst/>
            <a:gdLst/>
            <a:ahLst/>
            <a:cxnLst/>
            <a:rect r="r" b="b" t="t" l="l"/>
            <a:pathLst>
              <a:path h="2942272" w="2942272">
                <a:moveTo>
                  <a:pt x="0" y="0"/>
                </a:moveTo>
                <a:lnTo>
                  <a:pt x="2942272" y="0"/>
                </a:lnTo>
                <a:lnTo>
                  <a:pt x="2942272" y="2942272"/>
                </a:lnTo>
                <a:lnTo>
                  <a:pt x="0" y="29422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35522" y="1138039"/>
            <a:ext cx="7081342" cy="7230464"/>
          </a:xfrm>
          <a:custGeom>
            <a:avLst/>
            <a:gdLst/>
            <a:ahLst/>
            <a:cxnLst/>
            <a:rect r="r" b="b" t="t" l="l"/>
            <a:pathLst>
              <a:path h="7230464" w="7081342">
                <a:moveTo>
                  <a:pt x="0" y="0"/>
                </a:moveTo>
                <a:lnTo>
                  <a:pt x="7081342" y="0"/>
                </a:lnTo>
                <a:lnTo>
                  <a:pt x="7081342" y="7230464"/>
                </a:lnTo>
                <a:lnTo>
                  <a:pt x="0" y="7230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35522" y="8232438"/>
            <a:ext cx="7081342" cy="531824"/>
          </a:xfrm>
          <a:custGeom>
            <a:avLst/>
            <a:gdLst/>
            <a:ahLst/>
            <a:cxnLst/>
            <a:rect r="r" b="b" t="t" l="l"/>
            <a:pathLst>
              <a:path h="531824" w="7081342">
                <a:moveTo>
                  <a:pt x="0" y="0"/>
                </a:moveTo>
                <a:lnTo>
                  <a:pt x="7081342" y="0"/>
                </a:lnTo>
                <a:lnTo>
                  <a:pt x="7081342" y="531824"/>
                </a:lnTo>
                <a:lnTo>
                  <a:pt x="0" y="5318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43134" y="8935841"/>
            <a:ext cx="19974277" cy="1565643"/>
          </a:xfrm>
          <a:custGeom>
            <a:avLst/>
            <a:gdLst/>
            <a:ahLst/>
            <a:cxnLst/>
            <a:rect r="r" b="b" t="t" l="l"/>
            <a:pathLst>
              <a:path h="1565643" w="19974277">
                <a:moveTo>
                  <a:pt x="0" y="0"/>
                </a:moveTo>
                <a:lnTo>
                  <a:pt x="19974277" y="0"/>
                </a:lnTo>
                <a:lnTo>
                  <a:pt x="19974277" y="1565643"/>
                </a:lnTo>
                <a:lnTo>
                  <a:pt x="0" y="15656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1194273"/>
            <a:ext cx="556184" cy="594608"/>
          </a:xfrm>
          <a:custGeom>
            <a:avLst/>
            <a:gdLst/>
            <a:ahLst/>
            <a:cxnLst/>
            <a:rect r="r" b="b" t="t" l="l"/>
            <a:pathLst>
              <a:path h="594608" w="556184">
                <a:moveTo>
                  <a:pt x="0" y="0"/>
                </a:moveTo>
                <a:lnTo>
                  <a:pt x="556184" y="0"/>
                </a:lnTo>
                <a:lnTo>
                  <a:pt x="556184" y="594608"/>
                </a:lnTo>
                <a:lnTo>
                  <a:pt x="0" y="5946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05451" y="1844664"/>
            <a:ext cx="7961652" cy="5365461"/>
            <a:chOff x="0" y="0"/>
            <a:chExt cx="10615536" cy="71539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15549" cy="7153910"/>
            </a:xfrm>
            <a:custGeom>
              <a:avLst/>
              <a:gdLst/>
              <a:ahLst/>
              <a:cxnLst/>
              <a:rect r="r" b="b" t="t" l="l"/>
              <a:pathLst>
                <a:path h="7153910" w="10615549">
                  <a:moveTo>
                    <a:pt x="0" y="0"/>
                  </a:moveTo>
                  <a:lnTo>
                    <a:pt x="10615549" y="0"/>
                  </a:lnTo>
                  <a:lnTo>
                    <a:pt x="10615549" y="7153910"/>
                  </a:lnTo>
                  <a:lnTo>
                    <a:pt x="0" y="7153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20645" r="0" b="-2064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85998" y="1168147"/>
            <a:ext cx="9200559" cy="58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0"/>
              </a:lnSpc>
            </a:pPr>
            <a:r>
              <a:rPr lang="en-US" sz="34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Risk Level Distribution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98602" y="2178011"/>
            <a:ext cx="6462972" cy="642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4172" indent="-327086" lvl="1">
              <a:lnSpc>
                <a:spcPts val="6423"/>
              </a:lnSpc>
              <a:buFont typeface="Arial"/>
              <a:buChar char="•"/>
            </a:pPr>
            <a:r>
              <a:rPr lang="en-US" sz="3029" spc="-5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Most individuals are in the </a:t>
            </a:r>
            <a:r>
              <a:rPr lang="en-US" b="true" sz="3029" spc="-5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Medium </a:t>
            </a:r>
            <a:r>
              <a:rPr lang="en-US" sz="3029" spc="-5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Risk category</a:t>
            </a:r>
          </a:p>
          <a:p>
            <a:pPr algn="l" marL="654172" indent="-327086" lvl="1">
              <a:lnSpc>
                <a:spcPts val="6423"/>
              </a:lnSpc>
              <a:buFont typeface="Arial"/>
              <a:buChar char="•"/>
            </a:pPr>
            <a:r>
              <a:rPr lang="en-US" sz="3029" spc="-5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High and Low Risk groups are smaller but important for prediction</a:t>
            </a:r>
          </a:p>
          <a:p>
            <a:pPr algn="l" marL="654172" indent="-327086" lvl="1">
              <a:lnSpc>
                <a:spcPts val="6423"/>
              </a:lnSpc>
              <a:buFont typeface="Arial"/>
              <a:buChar char="•"/>
            </a:pPr>
            <a:r>
              <a:rPr lang="en-US" sz="3029" spc="-5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Distribution suggests slight </a:t>
            </a:r>
            <a:r>
              <a:rPr lang="en-US" b="true" sz="3029" spc="-5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imbalance </a:t>
            </a:r>
            <a:r>
              <a:rPr lang="en-US" sz="3029" spc="-5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 the dataset</a:t>
            </a:r>
          </a:p>
          <a:p>
            <a:pPr algn="l">
              <a:lnSpc>
                <a:spcPts val="642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9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0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411605" y="9237574"/>
            <a:ext cx="3395205" cy="1049426"/>
          </a:xfrm>
          <a:custGeom>
            <a:avLst/>
            <a:gdLst/>
            <a:ahLst/>
            <a:cxnLst/>
            <a:rect r="r" b="b" t="t" l="l"/>
            <a:pathLst>
              <a:path h="1049426" w="3395205">
                <a:moveTo>
                  <a:pt x="3395205" y="0"/>
                </a:moveTo>
                <a:lnTo>
                  <a:pt x="0" y="0"/>
                </a:lnTo>
                <a:lnTo>
                  <a:pt x="0" y="1049426"/>
                </a:lnTo>
                <a:lnTo>
                  <a:pt x="3395205" y="1049426"/>
                </a:lnTo>
                <a:lnTo>
                  <a:pt x="339520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4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16864" y="-1154001"/>
            <a:ext cx="2942272" cy="2942272"/>
          </a:xfrm>
          <a:custGeom>
            <a:avLst/>
            <a:gdLst/>
            <a:ahLst/>
            <a:cxnLst/>
            <a:rect r="r" b="b" t="t" l="l"/>
            <a:pathLst>
              <a:path h="2942272" w="2942272">
                <a:moveTo>
                  <a:pt x="0" y="0"/>
                </a:moveTo>
                <a:lnTo>
                  <a:pt x="2942272" y="0"/>
                </a:lnTo>
                <a:lnTo>
                  <a:pt x="2942272" y="2942272"/>
                </a:lnTo>
                <a:lnTo>
                  <a:pt x="0" y="29422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35522" y="1413783"/>
            <a:ext cx="6811285" cy="6954720"/>
          </a:xfrm>
          <a:custGeom>
            <a:avLst/>
            <a:gdLst/>
            <a:ahLst/>
            <a:cxnLst/>
            <a:rect r="r" b="b" t="t" l="l"/>
            <a:pathLst>
              <a:path h="6954720" w="6811285">
                <a:moveTo>
                  <a:pt x="0" y="0"/>
                </a:moveTo>
                <a:lnTo>
                  <a:pt x="6811285" y="0"/>
                </a:lnTo>
                <a:lnTo>
                  <a:pt x="6811285" y="6954720"/>
                </a:lnTo>
                <a:lnTo>
                  <a:pt x="0" y="69547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35522" y="8232438"/>
            <a:ext cx="6811285" cy="511542"/>
          </a:xfrm>
          <a:custGeom>
            <a:avLst/>
            <a:gdLst/>
            <a:ahLst/>
            <a:cxnLst/>
            <a:rect r="r" b="b" t="t" l="l"/>
            <a:pathLst>
              <a:path h="511542" w="6811285">
                <a:moveTo>
                  <a:pt x="0" y="0"/>
                </a:moveTo>
                <a:lnTo>
                  <a:pt x="6811285" y="0"/>
                </a:lnTo>
                <a:lnTo>
                  <a:pt x="6811285" y="511542"/>
                </a:lnTo>
                <a:lnTo>
                  <a:pt x="0" y="5115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43134" y="8935841"/>
            <a:ext cx="19974277" cy="1565643"/>
          </a:xfrm>
          <a:custGeom>
            <a:avLst/>
            <a:gdLst/>
            <a:ahLst/>
            <a:cxnLst/>
            <a:rect r="r" b="b" t="t" l="l"/>
            <a:pathLst>
              <a:path h="1565643" w="19974277">
                <a:moveTo>
                  <a:pt x="0" y="0"/>
                </a:moveTo>
                <a:lnTo>
                  <a:pt x="19974277" y="0"/>
                </a:lnTo>
                <a:lnTo>
                  <a:pt x="19974277" y="1565643"/>
                </a:lnTo>
                <a:lnTo>
                  <a:pt x="0" y="15656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1194273"/>
            <a:ext cx="556184" cy="594608"/>
          </a:xfrm>
          <a:custGeom>
            <a:avLst/>
            <a:gdLst/>
            <a:ahLst/>
            <a:cxnLst/>
            <a:rect r="r" b="b" t="t" l="l"/>
            <a:pathLst>
              <a:path h="594608" w="556184">
                <a:moveTo>
                  <a:pt x="0" y="0"/>
                </a:moveTo>
                <a:lnTo>
                  <a:pt x="556184" y="0"/>
                </a:lnTo>
                <a:lnTo>
                  <a:pt x="556184" y="594608"/>
                </a:lnTo>
                <a:lnTo>
                  <a:pt x="0" y="5946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06792" y="2169682"/>
            <a:ext cx="6499852" cy="6499852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12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1270">
                  <a:moveTo>
                    <a:pt x="5985510" y="0"/>
                  </a:moveTo>
                  <a:lnTo>
                    <a:pt x="364490" y="0"/>
                  </a:lnTo>
                  <a:cubicBezTo>
                    <a:pt x="162560" y="0"/>
                    <a:pt x="0" y="162560"/>
                    <a:pt x="0" y="364490"/>
                  </a:cubicBezTo>
                  <a:lnTo>
                    <a:pt x="0" y="5986780"/>
                  </a:lnTo>
                  <a:cubicBezTo>
                    <a:pt x="0" y="6187440"/>
                    <a:pt x="162560" y="6350000"/>
                    <a:pt x="364490" y="6350000"/>
                  </a:cubicBezTo>
                  <a:lnTo>
                    <a:pt x="5986780" y="6350000"/>
                  </a:lnTo>
                  <a:cubicBezTo>
                    <a:pt x="6187440" y="6350000"/>
                    <a:pt x="6351270" y="6187440"/>
                    <a:pt x="6351270" y="5985510"/>
                  </a:cubicBezTo>
                  <a:lnTo>
                    <a:pt x="6351270" y="364490"/>
                  </a:lnTo>
                  <a:cubicBezTo>
                    <a:pt x="6350000" y="162560"/>
                    <a:pt x="6187440" y="0"/>
                    <a:pt x="5985510" y="0"/>
                  </a:cubicBezTo>
                  <a:close/>
                </a:path>
              </a:pathLst>
            </a:custGeom>
            <a:blipFill>
              <a:blip r:embed="rId16"/>
              <a:stretch>
                <a:fillRect l="-8653" t="0" r="-865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779451" y="654091"/>
            <a:ext cx="9200559" cy="56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0"/>
              </a:lnSpc>
            </a:pPr>
            <a:r>
              <a:rPr lang="en-US" sz="33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CORRELATION AMONG INPUT FEATURES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98602" y="2177714"/>
            <a:ext cx="6517155" cy="660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4420"/>
              </a:lnSpc>
              <a:buFont typeface="Arial"/>
              <a:buChar char="•"/>
            </a:pPr>
            <a:r>
              <a:rPr lang="en-US" sz="2600" spc="-4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Correlation matrix shows how the independent variables (x features) relate to each other.</a:t>
            </a:r>
          </a:p>
          <a:p>
            <a:pPr algn="l" marL="561342" indent="-280671" lvl="1">
              <a:lnSpc>
                <a:spcPts val="4420"/>
              </a:lnSpc>
              <a:buFont typeface="Arial"/>
              <a:buChar char="•"/>
            </a:pPr>
            <a:r>
              <a:rPr lang="en-US" sz="2600" spc="-4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Highly correlated features might carry overlapping information and can influence model</a:t>
            </a:r>
          </a:p>
          <a:p>
            <a:pPr algn="l" marL="561342" indent="-280671" lvl="1">
              <a:lnSpc>
                <a:spcPts val="4420"/>
              </a:lnSpc>
              <a:buFont typeface="Arial"/>
              <a:buChar char="•"/>
            </a:pPr>
            <a:r>
              <a:rPr lang="en-US" sz="2600" spc="-4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Darker colors indicate strong correlations</a:t>
            </a:r>
          </a:p>
          <a:p>
            <a:pPr algn="l" marL="561342" indent="-280671" lvl="1">
              <a:lnSpc>
                <a:spcPts val="4420"/>
              </a:lnSpc>
              <a:buFont typeface="Arial"/>
              <a:buChar char="•"/>
            </a:pPr>
            <a:r>
              <a:rPr lang="en-US" sz="2600" spc="-4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The only features with strongly correlation: Productivity &amp; Depression score</a:t>
            </a:r>
          </a:p>
          <a:p>
            <a:pPr algn="l">
              <a:lnSpc>
                <a:spcPts val="442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714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0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06933" y="7880394"/>
            <a:ext cx="3395205" cy="1049426"/>
          </a:xfrm>
          <a:custGeom>
            <a:avLst/>
            <a:gdLst/>
            <a:ahLst/>
            <a:cxnLst/>
            <a:rect r="r" b="b" t="t" l="l"/>
            <a:pathLst>
              <a:path h="1049426" w="3395205">
                <a:moveTo>
                  <a:pt x="0" y="0"/>
                </a:moveTo>
                <a:lnTo>
                  <a:pt x="3395205" y="0"/>
                </a:lnTo>
                <a:lnTo>
                  <a:pt x="3395205" y="1049427"/>
                </a:lnTo>
                <a:lnTo>
                  <a:pt x="0" y="10494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4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55390" y="-1269397"/>
            <a:ext cx="2942272" cy="2942272"/>
          </a:xfrm>
          <a:custGeom>
            <a:avLst/>
            <a:gdLst/>
            <a:ahLst/>
            <a:cxnLst/>
            <a:rect r="r" b="b" t="t" l="l"/>
            <a:pathLst>
              <a:path h="2942272" w="2942272">
                <a:moveTo>
                  <a:pt x="0" y="0"/>
                </a:moveTo>
                <a:lnTo>
                  <a:pt x="2942272" y="0"/>
                </a:lnTo>
                <a:lnTo>
                  <a:pt x="2942272" y="2942273"/>
                </a:lnTo>
                <a:lnTo>
                  <a:pt x="0" y="2942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66732" y="850394"/>
            <a:ext cx="7523778" cy="7682217"/>
          </a:xfrm>
          <a:custGeom>
            <a:avLst/>
            <a:gdLst/>
            <a:ahLst/>
            <a:cxnLst/>
            <a:rect r="r" b="b" t="t" l="l"/>
            <a:pathLst>
              <a:path h="7682217" w="7523778">
                <a:moveTo>
                  <a:pt x="0" y="0"/>
                </a:moveTo>
                <a:lnTo>
                  <a:pt x="7523778" y="0"/>
                </a:lnTo>
                <a:lnTo>
                  <a:pt x="7523778" y="7682217"/>
                </a:lnTo>
                <a:lnTo>
                  <a:pt x="0" y="76822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43134" y="8935841"/>
            <a:ext cx="19974277" cy="1565643"/>
          </a:xfrm>
          <a:custGeom>
            <a:avLst/>
            <a:gdLst/>
            <a:ahLst/>
            <a:cxnLst/>
            <a:rect r="r" b="b" t="t" l="l"/>
            <a:pathLst>
              <a:path h="1565643" w="19974277">
                <a:moveTo>
                  <a:pt x="0" y="0"/>
                </a:moveTo>
                <a:lnTo>
                  <a:pt x="19974277" y="0"/>
                </a:lnTo>
                <a:lnTo>
                  <a:pt x="19974277" y="1565643"/>
                </a:lnTo>
                <a:lnTo>
                  <a:pt x="0" y="15656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66732" y="8250086"/>
            <a:ext cx="7523778" cy="565052"/>
          </a:xfrm>
          <a:custGeom>
            <a:avLst/>
            <a:gdLst/>
            <a:ahLst/>
            <a:cxnLst/>
            <a:rect r="r" b="b" t="t" l="l"/>
            <a:pathLst>
              <a:path h="565052" w="7523778">
                <a:moveTo>
                  <a:pt x="0" y="0"/>
                </a:moveTo>
                <a:lnTo>
                  <a:pt x="7523778" y="0"/>
                </a:lnTo>
                <a:lnTo>
                  <a:pt x="7523778" y="565051"/>
                </a:lnTo>
                <a:lnTo>
                  <a:pt x="0" y="5650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5184" y="1597925"/>
            <a:ext cx="4249863" cy="7331896"/>
          </a:xfrm>
          <a:custGeom>
            <a:avLst/>
            <a:gdLst/>
            <a:ahLst/>
            <a:cxnLst/>
            <a:rect r="r" b="b" t="t" l="l"/>
            <a:pathLst>
              <a:path h="7331896" w="4249863">
                <a:moveTo>
                  <a:pt x="0" y="0"/>
                </a:moveTo>
                <a:lnTo>
                  <a:pt x="4249863" y="0"/>
                </a:lnTo>
                <a:lnTo>
                  <a:pt x="4249863" y="7331896"/>
                </a:lnTo>
                <a:lnTo>
                  <a:pt x="0" y="733189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8377" r="-12184" b="-45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485047" y="1743376"/>
            <a:ext cx="4189392" cy="7040995"/>
          </a:xfrm>
          <a:custGeom>
            <a:avLst/>
            <a:gdLst/>
            <a:ahLst/>
            <a:cxnLst/>
            <a:rect r="r" b="b" t="t" l="l"/>
            <a:pathLst>
              <a:path h="7040995" w="4189392">
                <a:moveTo>
                  <a:pt x="0" y="0"/>
                </a:moveTo>
                <a:lnTo>
                  <a:pt x="4189392" y="0"/>
                </a:lnTo>
                <a:lnTo>
                  <a:pt x="4189392" y="7040994"/>
                </a:lnTo>
                <a:lnTo>
                  <a:pt x="0" y="704099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853730" y="1024889"/>
            <a:ext cx="6889375" cy="8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2"/>
              </a:lnSpc>
            </a:pPr>
            <a:r>
              <a:rPr lang="en-US" sz="5144" b="true">
                <a:solidFill>
                  <a:srgbClr val="DDDED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Correlation: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91275" y="6133147"/>
            <a:ext cx="523018" cy="404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1"/>
              </a:lnSpc>
            </a:pPr>
            <a:r>
              <a:rPr lang="en-US" sz="216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6136" y="491059"/>
            <a:ext cx="9200559" cy="53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0"/>
              </a:lnSpc>
            </a:pPr>
            <a:r>
              <a:rPr lang="en-US" sz="320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PRODUCTIVITY VS DEPRESSION S</a:t>
            </a:r>
            <a:r>
              <a:rPr lang="en-US" sz="320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72780" y="2281434"/>
            <a:ext cx="6788658" cy="5598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814" indent="-283907" lvl="1">
              <a:lnSpc>
                <a:spcPts val="4444"/>
              </a:lnSpc>
              <a:buFont typeface="Arial"/>
              <a:buChar char="•"/>
            </a:pPr>
            <a:r>
              <a:rPr lang="en-US" sz="2629" spc="-4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This Histogram shows how productivity score relates to depression score</a:t>
            </a:r>
          </a:p>
          <a:p>
            <a:pPr algn="l" marL="567814" indent="-283907" lvl="1">
              <a:lnSpc>
                <a:spcPts val="4444"/>
              </a:lnSpc>
              <a:buFont typeface="Arial"/>
              <a:buChar char="•"/>
            </a:pPr>
            <a:r>
              <a:rPr lang="en-US" sz="2629" spc="-4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They both have negative correlation</a:t>
            </a:r>
          </a:p>
          <a:p>
            <a:pPr algn="l" marL="567814" indent="-283907" lvl="1">
              <a:lnSpc>
                <a:spcPts val="4444"/>
              </a:lnSpc>
              <a:buFont typeface="Arial"/>
              <a:buChar char="•"/>
            </a:pPr>
            <a:r>
              <a:rPr lang="en-US" sz="2629" spc="-4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Clear downward trend</a:t>
            </a:r>
          </a:p>
          <a:p>
            <a:pPr algn="l" marL="567814" indent="-283907" lvl="1">
              <a:lnSpc>
                <a:spcPts val="4444"/>
              </a:lnSpc>
              <a:buFont typeface="Arial"/>
              <a:buChar char="•"/>
            </a:pPr>
            <a:r>
              <a:rPr lang="en-US" sz="2629" spc="-4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Shows how mental health symptoms can directly affect day to day performances</a:t>
            </a:r>
          </a:p>
          <a:p>
            <a:pPr algn="l" marL="567814" indent="-283907" lvl="1">
              <a:lnSpc>
                <a:spcPts val="4444"/>
              </a:lnSpc>
              <a:buFont typeface="Arial"/>
              <a:buChar char="•"/>
            </a:pPr>
            <a:r>
              <a:rPr lang="en-US" sz="2629" spc="-5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As the trend goes down → Risk is Higher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9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0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411605" y="9237574"/>
            <a:ext cx="3395205" cy="1049426"/>
          </a:xfrm>
          <a:custGeom>
            <a:avLst/>
            <a:gdLst/>
            <a:ahLst/>
            <a:cxnLst/>
            <a:rect r="r" b="b" t="t" l="l"/>
            <a:pathLst>
              <a:path h="1049426" w="3395205">
                <a:moveTo>
                  <a:pt x="3395205" y="0"/>
                </a:moveTo>
                <a:lnTo>
                  <a:pt x="0" y="0"/>
                </a:lnTo>
                <a:lnTo>
                  <a:pt x="0" y="1049426"/>
                </a:lnTo>
                <a:lnTo>
                  <a:pt x="3395205" y="1049426"/>
                </a:lnTo>
                <a:lnTo>
                  <a:pt x="339520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4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16864" y="-1154001"/>
            <a:ext cx="2942272" cy="2942272"/>
          </a:xfrm>
          <a:custGeom>
            <a:avLst/>
            <a:gdLst/>
            <a:ahLst/>
            <a:cxnLst/>
            <a:rect r="r" b="b" t="t" l="l"/>
            <a:pathLst>
              <a:path h="2942272" w="2942272">
                <a:moveTo>
                  <a:pt x="0" y="0"/>
                </a:moveTo>
                <a:lnTo>
                  <a:pt x="2942272" y="0"/>
                </a:lnTo>
                <a:lnTo>
                  <a:pt x="2942272" y="2942272"/>
                </a:lnTo>
                <a:lnTo>
                  <a:pt x="0" y="29422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04562" y="1338262"/>
            <a:ext cx="7006579" cy="7154126"/>
          </a:xfrm>
          <a:custGeom>
            <a:avLst/>
            <a:gdLst/>
            <a:ahLst/>
            <a:cxnLst/>
            <a:rect r="r" b="b" t="t" l="l"/>
            <a:pathLst>
              <a:path h="7154126" w="7006579">
                <a:moveTo>
                  <a:pt x="0" y="0"/>
                </a:moveTo>
                <a:lnTo>
                  <a:pt x="7006579" y="0"/>
                </a:lnTo>
                <a:lnTo>
                  <a:pt x="7006579" y="7154127"/>
                </a:lnTo>
                <a:lnTo>
                  <a:pt x="0" y="71541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04562" y="8229495"/>
            <a:ext cx="7006579" cy="526209"/>
          </a:xfrm>
          <a:custGeom>
            <a:avLst/>
            <a:gdLst/>
            <a:ahLst/>
            <a:cxnLst/>
            <a:rect r="r" b="b" t="t" l="l"/>
            <a:pathLst>
              <a:path h="526209" w="7006579">
                <a:moveTo>
                  <a:pt x="0" y="0"/>
                </a:moveTo>
                <a:lnTo>
                  <a:pt x="7006579" y="0"/>
                </a:lnTo>
                <a:lnTo>
                  <a:pt x="7006579" y="526209"/>
                </a:lnTo>
                <a:lnTo>
                  <a:pt x="0" y="5262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43134" y="8935841"/>
            <a:ext cx="19974277" cy="1565643"/>
          </a:xfrm>
          <a:custGeom>
            <a:avLst/>
            <a:gdLst/>
            <a:ahLst/>
            <a:cxnLst/>
            <a:rect r="r" b="b" t="t" l="l"/>
            <a:pathLst>
              <a:path h="1565643" w="19974277">
                <a:moveTo>
                  <a:pt x="0" y="0"/>
                </a:moveTo>
                <a:lnTo>
                  <a:pt x="19974277" y="0"/>
                </a:lnTo>
                <a:lnTo>
                  <a:pt x="19974277" y="1565643"/>
                </a:lnTo>
                <a:lnTo>
                  <a:pt x="0" y="15656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1194273"/>
            <a:ext cx="556184" cy="594608"/>
          </a:xfrm>
          <a:custGeom>
            <a:avLst/>
            <a:gdLst/>
            <a:ahLst/>
            <a:cxnLst/>
            <a:rect r="r" b="b" t="t" l="l"/>
            <a:pathLst>
              <a:path h="594608" w="556184">
                <a:moveTo>
                  <a:pt x="0" y="0"/>
                </a:moveTo>
                <a:lnTo>
                  <a:pt x="556184" y="0"/>
                </a:lnTo>
                <a:lnTo>
                  <a:pt x="556184" y="594608"/>
                </a:lnTo>
                <a:lnTo>
                  <a:pt x="0" y="5946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6317" y="2113631"/>
            <a:ext cx="9669204" cy="5680658"/>
          </a:xfrm>
          <a:custGeom>
            <a:avLst/>
            <a:gdLst/>
            <a:ahLst/>
            <a:cxnLst/>
            <a:rect r="r" b="b" t="t" l="l"/>
            <a:pathLst>
              <a:path h="5680658" w="9669204">
                <a:moveTo>
                  <a:pt x="0" y="0"/>
                </a:moveTo>
                <a:lnTo>
                  <a:pt x="9669205" y="0"/>
                </a:lnTo>
                <a:lnTo>
                  <a:pt x="9669205" y="5680657"/>
                </a:lnTo>
                <a:lnTo>
                  <a:pt x="0" y="5680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89993" y="697016"/>
            <a:ext cx="9200559" cy="1215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0"/>
              </a:lnSpc>
            </a:pPr>
            <a:r>
              <a:rPr lang="en-US" sz="35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CORRELATION BETWEEN INPUT AND OUTPUT FEATURES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04562" y="2455679"/>
            <a:ext cx="6788658" cy="629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2583" indent="-316291" lvl="1">
              <a:lnSpc>
                <a:spcPts val="5596"/>
              </a:lnSpc>
              <a:buFont typeface="Arial"/>
              <a:buChar char="•"/>
            </a:pPr>
            <a:r>
              <a:rPr lang="en-US" sz="2929" spc="-55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This map shows features that might affect the mental health risk high or low</a:t>
            </a:r>
          </a:p>
          <a:p>
            <a:pPr algn="l" marL="632583" indent="-316291" lvl="1">
              <a:lnSpc>
                <a:spcPts val="5596"/>
              </a:lnSpc>
              <a:buFont typeface="Arial"/>
              <a:buChar char="•"/>
            </a:pPr>
            <a:r>
              <a:rPr lang="en-US" sz="2929" spc="-55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Positive = Protective factors lowering the risk</a:t>
            </a:r>
          </a:p>
          <a:p>
            <a:pPr algn="l" marL="632583" indent="-316291" lvl="1">
              <a:lnSpc>
                <a:spcPts val="5596"/>
              </a:lnSpc>
              <a:buFont typeface="Arial"/>
              <a:buChar char="•"/>
            </a:pPr>
            <a:r>
              <a:rPr lang="en-US" sz="2929" spc="-55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Negative =  Higher chance of Medium/High risk as low risk goes down</a:t>
            </a:r>
          </a:p>
          <a:p>
            <a:pPr algn="l">
              <a:lnSpc>
                <a:spcPts val="5596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9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0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411605" y="9237574"/>
            <a:ext cx="3395205" cy="1049426"/>
          </a:xfrm>
          <a:custGeom>
            <a:avLst/>
            <a:gdLst/>
            <a:ahLst/>
            <a:cxnLst/>
            <a:rect r="r" b="b" t="t" l="l"/>
            <a:pathLst>
              <a:path h="1049426" w="3395205">
                <a:moveTo>
                  <a:pt x="3395205" y="0"/>
                </a:moveTo>
                <a:lnTo>
                  <a:pt x="0" y="0"/>
                </a:lnTo>
                <a:lnTo>
                  <a:pt x="0" y="1049426"/>
                </a:lnTo>
                <a:lnTo>
                  <a:pt x="3395205" y="1049426"/>
                </a:lnTo>
                <a:lnTo>
                  <a:pt x="339520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4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16864" y="-1154001"/>
            <a:ext cx="2942272" cy="2942272"/>
          </a:xfrm>
          <a:custGeom>
            <a:avLst/>
            <a:gdLst/>
            <a:ahLst/>
            <a:cxnLst/>
            <a:rect r="r" b="b" t="t" l="l"/>
            <a:pathLst>
              <a:path h="2942272" w="2942272">
                <a:moveTo>
                  <a:pt x="0" y="0"/>
                </a:moveTo>
                <a:lnTo>
                  <a:pt x="2942272" y="0"/>
                </a:lnTo>
                <a:lnTo>
                  <a:pt x="2942272" y="2942272"/>
                </a:lnTo>
                <a:lnTo>
                  <a:pt x="0" y="29422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71303" y="1518452"/>
            <a:ext cx="6852216" cy="6996513"/>
          </a:xfrm>
          <a:custGeom>
            <a:avLst/>
            <a:gdLst/>
            <a:ahLst/>
            <a:cxnLst/>
            <a:rect r="r" b="b" t="t" l="l"/>
            <a:pathLst>
              <a:path h="6996513" w="6852216">
                <a:moveTo>
                  <a:pt x="0" y="0"/>
                </a:moveTo>
                <a:lnTo>
                  <a:pt x="6852216" y="0"/>
                </a:lnTo>
                <a:lnTo>
                  <a:pt x="6852216" y="6996512"/>
                </a:lnTo>
                <a:lnTo>
                  <a:pt x="0" y="6996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71303" y="8232438"/>
            <a:ext cx="6852216" cy="514616"/>
          </a:xfrm>
          <a:custGeom>
            <a:avLst/>
            <a:gdLst/>
            <a:ahLst/>
            <a:cxnLst/>
            <a:rect r="r" b="b" t="t" l="l"/>
            <a:pathLst>
              <a:path h="514616" w="6852216">
                <a:moveTo>
                  <a:pt x="0" y="0"/>
                </a:moveTo>
                <a:lnTo>
                  <a:pt x="6852216" y="0"/>
                </a:lnTo>
                <a:lnTo>
                  <a:pt x="6852216" y="514616"/>
                </a:lnTo>
                <a:lnTo>
                  <a:pt x="0" y="5146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43134" y="8935841"/>
            <a:ext cx="19974277" cy="1565643"/>
          </a:xfrm>
          <a:custGeom>
            <a:avLst/>
            <a:gdLst/>
            <a:ahLst/>
            <a:cxnLst/>
            <a:rect r="r" b="b" t="t" l="l"/>
            <a:pathLst>
              <a:path h="1565643" w="19974277">
                <a:moveTo>
                  <a:pt x="0" y="0"/>
                </a:moveTo>
                <a:lnTo>
                  <a:pt x="19974277" y="0"/>
                </a:lnTo>
                <a:lnTo>
                  <a:pt x="19974277" y="1565643"/>
                </a:lnTo>
                <a:lnTo>
                  <a:pt x="0" y="15656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1194273"/>
            <a:ext cx="556184" cy="594608"/>
          </a:xfrm>
          <a:custGeom>
            <a:avLst/>
            <a:gdLst/>
            <a:ahLst/>
            <a:cxnLst/>
            <a:rect r="r" b="b" t="t" l="l"/>
            <a:pathLst>
              <a:path h="594608" w="556184">
                <a:moveTo>
                  <a:pt x="0" y="0"/>
                </a:moveTo>
                <a:lnTo>
                  <a:pt x="556184" y="0"/>
                </a:lnTo>
                <a:lnTo>
                  <a:pt x="556184" y="594608"/>
                </a:lnTo>
                <a:lnTo>
                  <a:pt x="0" y="5946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1734838"/>
            <a:ext cx="7354256" cy="7012216"/>
          </a:xfrm>
          <a:custGeom>
            <a:avLst/>
            <a:gdLst/>
            <a:ahLst/>
            <a:cxnLst/>
            <a:rect r="r" b="b" t="t" l="l"/>
            <a:pathLst>
              <a:path h="7012216" w="7354256">
                <a:moveTo>
                  <a:pt x="0" y="0"/>
                </a:moveTo>
                <a:lnTo>
                  <a:pt x="7354256" y="0"/>
                </a:lnTo>
                <a:lnTo>
                  <a:pt x="7354256" y="7012216"/>
                </a:lnTo>
                <a:lnTo>
                  <a:pt x="0" y="701221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1324" r="0" b="-132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01207" y="739197"/>
            <a:ext cx="9200559" cy="56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0"/>
              </a:lnSpc>
            </a:pPr>
            <a:r>
              <a:rPr lang="en-US" sz="33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POSITIVE </a:t>
            </a:r>
            <a:r>
              <a:rPr lang="en-US" sz="33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CORRELATION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34861" y="2470689"/>
            <a:ext cx="6788658" cy="517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762" indent="-337881" lvl="1">
              <a:lnSpc>
                <a:spcPts val="5164"/>
              </a:lnSpc>
              <a:buFont typeface="Arial"/>
              <a:buChar char="•"/>
            </a:pPr>
            <a:r>
              <a:rPr lang="en-US" sz="3129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Features that slightly decrease the risk level:</a:t>
            </a:r>
          </a:p>
          <a:p>
            <a:pPr algn="l" marL="1351523" indent="-450508" lvl="2">
              <a:lnSpc>
                <a:spcPts val="5164"/>
              </a:lnSpc>
              <a:buFont typeface="Arial"/>
              <a:buChar char="⚬"/>
            </a:pPr>
            <a:r>
              <a:rPr lang="en-US" sz="3129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Productivity score: 0.36</a:t>
            </a:r>
          </a:p>
          <a:p>
            <a:pPr algn="l" marL="1351523" indent="-450508" lvl="2">
              <a:lnSpc>
                <a:spcPts val="5164"/>
              </a:lnSpc>
              <a:buFont typeface="Arial"/>
              <a:buChar char="⚬"/>
            </a:pPr>
            <a:r>
              <a:rPr lang="en-US" sz="3129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History: 0.01</a:t>
            </a:r>
          </a:p>
          <a:p>
            <a:pPr algn="l" marL="1351523" indent="-450508" lvl="2">
              <a:lnSpc>
                <a:spcPts val="5164"/>
              </a:lnSpc>
              <a:buFont typeface="Arial"/>
              <a:buChar char="⚬"/>
            </a:pPr>
            <a:r>
              <a:rPr lang="en-US" sz="3129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Employment status: 0.01</a:t>
            </a:r>
          </a:p>
          <a:p>
            <a:pPr algn="l" marL="1351523" indent="-450508" lvl="2">
              <a:lnSpc>
                <a:spcPts val="5164"/>
              </a:lnSpc>
              <a:buFont typeface="Arial"/>
              <a:buChar char="⚬"/>
            </a:pPr>
            <a:r>
              <a:rPr lang="en-US" sz="3129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Social support: 0.01</a:t>
            </a:r>
          </a:p>
          <a:p>
            <a:pPr algn="l" marL="1351523" indent="-450508" lvl="2">
              <a:lnSpc>
                <a:spcPts val="5164"/>
              </a:lnSpc>
              <a:buFont typeface="Arial"/>
              <a:buChar char="⚬"/>
            </a:pPr>
            <a:r>
              <a:rPr lang="en-US" sz="3129" spc="-5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Sleep Hours : 0.01</a:t>
            </a:r>
          </a:p>
          <a:p>
            <a:pPr algn="l">
              <a:lnSpc>
                <a:spcPts val="5164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9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0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411605" y="9237574"/>
            <a:ext cx="3395205" cy="1049426"/>
          </a:xfrm>
          <a:custGeom>
            <a:avLst/>
            <a:gdLst/>
            <a:ahLst/>
            <a:cxnLst/>
            <a:rect r="r" b="b" t="t" l="l"/>
            <a:pathLst>
              <a:path h="1049426" w="3395205">
                <a:moveTo>
                  <a:pt x="3395205" y="0"/>
                </a:moveTo>
                <a:lnTo>
                  <a:pt x="0" y="0"/>
                </a:lnTo>
                <a:lnTo>
                  <a:pt x="0" y="1049426"/>
                </a:lnTo>
                <a:lnTo>
                  <a:pt x="3395205" y="1049426"/>
                </a:lnTo>
                <a:lnTo>
                  <a:pt x="339520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49" r="0" b="-74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16864" y="-1154001"/>
            <a:ext cx="2942272" cy="2942272"/>
          </a:xfrm>
          <a:custGeom>
            <a:avLst/>
            <a:gdLst/>
            <a:ahLst/>
            <a:cxnLst/>
            <a:rect r="r" b="b" t="t" l="l"/>
            <a:pathLst>
              <a:path h="2942272" w="2942272">
                <a:moveTo>
                  <a:pt x="0" y="0"/>
                </a:moveTo>
                <a:lnTo>
                  <a:pt x="2942272" y="0"/>
                </a:lnTo>
                <a:lnTo>
                  <a:pt x="2942272" y="2942272"/>
                </a:lnTo>
                <a:lnTo>
                  <a:pt x="0" y="29422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71303" y="1551515"/>
            <a:ext cx="6637306" cy="6777077"/>
          </a:xfrm>
          <a:custGeom>
            <a:avLst/>
            <a:gdLst/>
            <a:ahLst/>
            <a:cxnLst/>
            <a:rect r="r" b="b" t="t" l="l"/>
            <a:pathLst>
              <a:path h="6777077" w="6637306">
                <a:moveTo>
                  <a:pt x="0" y="0"/>
                </a:moveTo>
                <a:lnTo>
                  <a:pt x="6637306" y="0"/>
                </a:lnTo>
                <a:lnTo>
                  <a:pt x="6637306" y="6777077"/>
                </a:lnTo>
                <a:lnTo>
                  <a:pt x="0" y="67770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71303" y="8232438"/>
            <a:ext cx="6852216" cy="514616"/>
          </a:xfrm>
          <a:custGeom>
            <a:avLst/>
            <a:gdLst/>
            <a:ahLst/>
            <a:cxnLst/>
            <a:rect r="r" b="b" t="t" l="l"/>
            <a:pathLst>
              <a:path h="514616" w="6852216">
                <a:moveTo>
                  <a:pt x="0" y="0"/>
                </a:moveTo>
                <a:lnTo>
                  <a:pt x="6852216" y="0"/>
                </a:lnTo>
                <a:lnTo>
                  <a:pt x="6852216" y="514616"/>
                </a:lnTo>
                <a:lnTo>
                  <a:pt x="0" y="5146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43134" y="8935841"/>
            <a:ext cx="19974277" cy="1565643"/>
          </a:xfrm>
          <a:custGeom>
            <a:avLst/>
            <a:gdLst/>
            <a:ahLst/>
            <a:cxnLst/>
            <a:rect r="r" b="b" t="t" l="l"/>
            <a:pathLst>
              <a:path h="1565643" w="19974277">
                <a:moveTo>
                  <a:pt x="0" y="0"/>
                </a:moveTo>
                <a:lnTo>
                  <a:pt x="19974277" y="0"/>
                </a:lnTo>
                <a:lnTo>
                  <a:pt x="19974277" y="1565643"/>
                </a:lnTo>
                <a:lnTo>
                  <a:pt x="0" y="15656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1194273"/>
            <a:ext cx="556184" cy="594608"/>
          </a:xfrm>
          <a:custGeom>
            <a:avLst/>
            <a:gdLst/>
            <a:ahLst/>
            <a:cxnLst/>
            <a:rect r="r" b="b" t="t" l="l"/>
            <a:pathLst>
              <a:path h="594608" w="556184">
                <a:moveTo>
                  <a:pt x="0" y="0"/>
                </a:moveTo>
                <a:lnTo>
                  <a:pt x="556184" y="0"/>
                </a:lnTo>
                <a:lnTo>
                  <a:pt x="556184" y="594608"/>
                </a:lnTo>
                <a:lnTo>
                  <a:pt x="0" y="5946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43863" y="465025"/>
            <a:ext cx="9200559" cy="56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0"/>
              </a:lnSpc>
            </a:pPr>
            <a:r>
              <a:rPr lang="en-US" sz="33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NEGATIVE </a:t>
            </a:r>
            <a:r>
              <a:rPr lang="en-US" sz="330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CORRELATION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98602" y="2661589"/>
            <a:ext cx="6788658" cy="5017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4172" indent="-327086" lvl="1">
              <a:lnSpc>
                <a:spcPts val="4999"/>
              </a:lnSpc>
              <a:buFont typeface="Arial"/>
              <a:buChar char="•"/>
            </a:pPr>
            <a:r>
              <a:rPr lang="en-US" sz="3029" spc="-5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Features that slightly increase the risk level:</a:t>
            </a:r>
          </a:p>
          <a:p>
            <a:pPr algn="l" marL="1308344" indent="-436115" lvl="2">
              <a:lnSpc>
                <a:spcPts val="4999"/>
              </a:lnSpc>
              <a:buFont typeface="Arial"/>
              <a:buChar char="⚬"/>
            </a:pPr>
            <a:r>
              <a:rPr lang="en-US" sz="3029" spc="-5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Depression score: -0.37</a:t>
            </a:r>
          </a:p>
          <a:p>
            <a:pPr algn="l" marL="1308344" indent="-436115" lvl="2">
              <a:lnSpc>
                <a:spcPts val="4999"/>
              </a:lnSpc>
              <a:buFont typeface="Arial"/>
              <a:buChar char="⚬"/>
            </a:pPr>
            <a:r>
              <a:rPr lang="en-US" sz="3029" spc="-5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Anxiety Score: -0.25</a:t>
            </a:r>
          </a:p>
          <a:p>
            <a:pPr algn="l" marL="1308344" indent="-436115" lvl="2">
              <a:lnSpc>
                <a:spcPts val="4999"/>
              </a:lnSpc>
              <a:buFont typeface="Arial"/>
              <a:buChar char="⚬"/>
            </a:pPr>
            <a:r>
              <a:rPr lang="en-US" sz="3029" spc="-5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Seeks Treatment: -0.03</a:t>
            </a:r>
          </a:p>
          <a:p>
            <a:pPr algn="l" marL="1308344" indent="-436115" lvl="2">
              <a:lnSpc>
                <a:spcPts val="4999"/>
              </a:lnSpc>
              <a:buFont typeface="Arial"/>
              <a:buChar char="⚬"/>
            </a:pPr>
            <a:r>
              <a:rPr lang="en-US" sz="3029" spc="-5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Physical activity: -0.02</a:t>
            </a:r>
          </a:p>
          <a:p>
            <a:pPr algn="l" marL="1308344" indent="-436115" lvl="2">
              <a:lnSpc>
                <a:spcPts val="4999"/>
              </a:lnSpc>
              <a:buFont typeface="Arial"/>
              <a:buChar char="⚬"/>
            </a:pPr>
            <a:r>
              <a:rPr lang="en-US" sz="3029" spc="-5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Age: -0.01</a:t>
            </a:r>
          </a:p>
          <a:p>
            <a:pPr algn="l">
              <a:lnSpc>
                <a:spcPts val="4999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06792" y="2035305"/>
            <a:ext cx="8040398" cy="6512723"/>
          </a:xfrm>
          <a:custGeom>
            <a:avLst/>
            <a:gdLst/>
            <a:ahLst/>
            <a:cxnLst/>
            <a:rect r="r" b="b" t="t" l="l"/>
            <a:pathLst>
              <a:path h="6512723" w="8040398">
                <a:moveTo>
                  <a:pt x="0" y="0"/>
                </a:moveTo>
                <a:lnTo>
                  <a:pt x="8040398" y="0"/>
                </a:lnTo>
                <a:lnTo>
                  <a:pt x="8040398" y="6512722"/>
                </a:lnTo>
                <a:lnTo>
                  <a:pt x="0" y="65127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9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0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09662" y="-911619"/>
            <a:ext cx="2942272" cy="2942272"/>
          </a:xfrm>
          <a:custGeom>
            <a:avLst/>
            <a:gdLst/>
            <a:ahLst/>
            <a:cxnLst/>
            <a:rect r="r" b="b" t="t" l="l"/>
            <a:pathLst>
              <a:path h="2942272" w="2942272">
                <a:moveTo>
                  <a:pt x="0" y="0"/>
                </a:moveTo>
                <a:lnTo>
                  <a:pt x="2942272" y="0"/>
                </a:lnTo>
                <a:lnTo>
                  <a:pt x="2942272" y="2942273"/>
                </a:lnTo>
                <a:lnTo>
                  <a:pt x="0" y="2942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7626" y="559518"/>
            <a:ext cx="7523778" cy="7682217"/>
          </a:xfrm>
          <a:custGeom>
            <a:avLst/>
            <a:gdLst/>
            <a:ahLst/>
            <a:cxnLst/>
            <a:rect r="r" b="b" t="t" l="l"/>
            <a:pathLst>
              <a:path h="7682217" w="7523778">
                <a:moveTo>
                  <a:pt x="0" y="0"/>
                </a:moveTo>
                <a:lnTo>
                  <a:pt x="7523779" y="0"/>
                </a:lnTo>
                <a:lnTo>
                  <a:pt x="7523779" y="7682217"/>
                </a:lnTo>
                <a:lnTo>
                  <a:pt x="0" y="76822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4692" y="8166830"/>
            <a:ext cx="7523778" cy="565052"/>
          </a:xfrm>
          <a:custGeom>
            <a:avLst/>
            <a:gdLst/>
            <a:ahLst/>
            <a:cxnLst/>
            <a:rect r="r" b="b" t="t" l="l"/>
            <a:pathLst>
              <a:path h="565052" w="7523778">
                <a:moveTo>
                  <a:pt x="0" y="0"/>
                </a:moveTo>
                <a:lnTo>
                  <a:pt x="7523779" y="0"/>
                </a:lnTo>
                <a:lnTo>
                  <a:pt x="7523779" y="565052"/>
                </a:lnTo>
                <a:lnTo>
                  <a:pt x="0" y="5650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209235" y="9237574"/>
            <a:ext cx="3395205" cy="1049426"/>
          </a:xfrm>
          <a:custGeom>
            <a:avLst/>
            <a:gdLst/>
            <a:ahLst/>
            <a:cxnLst/>
            <a:rect r="r" b="b" t="t" l="l"/>
            <a:pathLst>
              <a:path h="1049426" w="3395205">
                <a:moveTo>
                  <a:pt x="3395206" y="0"/>
                </a:moveTo>
                <a:lnTo>
                  <a:pt x="0" y="0"/>
                </a:lnTo>
                <a:lnTo>
                  <a:pt x="0" y="1049426"/>
                </a:lnTo>
                <a:lnTo>
                  <a:pt x="3395206" y="1049426"/>
                </a:lnTo>
                <a:lnTo>
                  <a:pt x="339520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749" r="0" b="-74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43134" y="8935841"/>
            <a:ext cx="19974277" cy="1565643"/>
          </a:xfrm>
          <a:custGeom>
            <a:avLst/>
            <a:gdLst/>
            <a:ahLst/>
            <a:cxnLst/>
            <a:rect r="r" b="b" t="t" l="l"/>
            <a:pathLst>
              <a:path h="1565643" w="19974277">
                <a:moveTo>
                  <a:pt x="0" y="0"/>
                </a:moveTo>
                <a:lnTo>
                  <a:pt x="19974277" y="0"/>
                </a:lnTo>
                <a:lnTo>
                  <a:pt x="19974277" y="1565643"/>
                </a:lnTo>
                <a:lnTo>
                  <a:pt x="0" y="15656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77338" y="2030654"/>
            <a:ext cx="8067161" cy="5949531"/>
          </a:xfrm>
          <a:custGeom>
            <a:avLst/>
            <a:gdLst/>
            <a:ahLst/>
            <a:cxnLst/>
            <a:rect r="r" b="b" t="t" l="l"/>
            <a:pathLst>
              <a:path h="5949531" w="8067161">
                <a:moveTo>
                  <a:pt x="0" y="0"/>
                </a:moveTo>
                <a:lnTo>
                  <a:pt x="8067160" y="0"/>
                </a:lnTo>
                <a:lnTo>
                  <a:pt x="8067160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4369" y="688353"/>
            <a:ext cx="7447036" cy="90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299" b="true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Training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7626" y="2206045"/>
            <a:ext cx="7204434" cy="521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5224"/>
              </a:lnSpc>
              <a:buFont typeface="Arial"/>
              <a:buChar char="•"/>
            </a:pPr>
            <a:r>
              <a:rPr lang="en-US" sz="2499" spc="-4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Built a</a:t>
            </a:r>
            <a:r>
              <a:rPr lang="en-US" b="true" sz="2499" spc="-4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 N</a:t>
            </a:r>
            <a:r>
              <a:rPr lang="en-US" b="true" sz="2499" spc="-4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eural Network (ANN)</a:t>
            </a:r>
            <a:r>
              <a:rPr lang="en-US" sz="2499" spc="-4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model </a:t>
            </a:r>
          </a:p>
          <a:p>
            <a:pPr algn="l" marL="539749" indent="-269875" lvl="1">
              <a:lnSpc>
                <a:spcPts val="5224"/>
              </a:lnSpc>
              <a:buFont typeface="Arial"/>
              <a:buChar char="•"/>
            </a:pPr>
            <a:r>
              <a:rPr lang="en-US" sz="2499" spc="-4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Model consists of multiple </a:t>
            </a:r>
            <a:r>
              <a:rPr lang="en-US" b="true" sz="2499" spc="-4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dense </a:t>
            </a:r>
            <a:r>
              <a:rPr lang="en-US" sz="2499" spc="-4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layers to fully connect</a:t>
            </a:r>
          </a:p>
          <a:p>
            <a:pPr algn="l" marL="539749" indent="-269875" lvl="1">
              <a:lnSpc>
                <a:spcPts val="5224"/>
              </a:lnSpc>
              <a:buFont typeface="Arial"/>
              <a:buChar char="•"/>
            </a:pPr>
            <a:r>
              <a:rPr lang="en-US" sz="2499" spc="-4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Used </a:t>
            </a:r>
            <a:r>
              <a:rPr lang="en-US" b="true" sz="2499" spc="-4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ReLu activation</a:t>
            </a:r>
            <a:r>
              <a:rPr lang="en-US" sz="2499" spc="-4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for hidden layers</a:t>
            </a:r>
          </a:p>
          <a:p>
            <a:pPr algn="l" marL="539749" indent="-269875" lvl="1">
              <a:lnSpc>
                <a:spcPts val="5224"/>
              </a:lnSpc>
              <a:buFont typeface="Arial"/>
              <a:buChar char="•"/>
            </a:pPr>
            <a:r>
              <a:rPr lang="en-US" sz="2499" spc="-4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Used </a:t>
            </a:r>
            <a:r>
              <a:rPr lang="en-US" b="true" sz="2499" spc="-4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softmax </a:t>
            </a:r>
            <a:r>
              <a:rPr lang="en-US" sz="2499" spc="-4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for multi-class classification (Low/Medium/High)</a:t>
            </a:r>
          </a:p>
          <a:p>
            <a:pPr algn="l" marL="539749" indent="-269875" lvl="1">
              <a:lnSpc>
                <a:spcPts val="5224"/>
              </a:lnSpc>
              <a:buFont typeface="Arial"/>
              <a:buChar char="•"/>
            </a:pPr>
            <a:r>
              <a:rPr lang="en-US" sz="2499" spc="-4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Train Accuracy: </a:t>
            </a:r>
            <a:r>
              <a:rPr lang="en-US" b="true" sz="2499" spc="-4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98.88%</a:t>
            </a:r>
          </a:p>
          <a:p>
            <a:pPr algn="l" marL="539749" indent="-269875" lvl="1">
              <a:lnSpc>
                <a:spcPts val="5224"/>
              </a:lnSpc>
              <a:buFont typeface="Arial"/>
              <a:buChar char="•"/>
            </a:pPr>
            <a:r>
              <a:rPr lang="en-US" sz="2499" spc="-4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Training Loss: </a:t>
            </a:r>
            <a:r>
              <a:rPr lang="en-US" b="true" sz="2499" spc="-49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3.39%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06279" y="1066371"/>
            <a:ext cx="9200559" cy="56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0"/>
              </a:lnSpc>
            </a:pPr>
            <a:r>
              <a:rPr lang="en-US" sz="330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Neural Network Model &amp; Training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9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0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09662" y="-911619"/>
            <a:ext cx="2942272" cy="2942272"/>
          </a:xfrm>
          <a:custGeom>
            <a:avLst/>
            <a:gdLst/>
            <a:ahLst/>
            <a:cxnLst/>
            <a:rect r="r" b="b" t="t" l="l"/>
            <a:pathLst>
              <a:path h="2942272" w="2942272">
                <a:moveTo>
                  <a:pt x="0" y="0"/>
                </a:moveTo>
                <a:lnTo>
                  <a:pt x="2942272" y="0"/>
                </a:lnTo>
                <a:lnTo>
                  <a:pt x="2942272" y="2942273"/>
                </a:lnTo>
                <a:lnTo>
                  <a:pt x="0" y="2942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83060" y="767139"/>
            <a:ext cx="7523778" cy="7682217"/>
          </a:xfrm>
          <a:custGeom>
            <a:avLst/>
            <a:gdLst/>
            <a:ahLst/>
            <a:cxnLst/>
            <a:rect r="r" b="b" t="t" l="l"/>
            <a:pathLst>
              <a:path h="7682217" w="7523778">
                <a:moveTo>
                  <a:pt x="0" y="0"/>
                </a:moveTo>
                <a:lnTo>
                  <a:pt x="7523778" y="0"/>
                </a:lnTo>
                <a:lnTo>
                  <a:pt x="7523778" y="7682217"/>
                </a:lnTo>
                <a:lnTo>
                  <a:pt x="0" y="76822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83060" y="8280078"/>
            <a:ext cx="7523778" cy="565052"/>
          </a:xfrm>
          <a:custGeom>
            <a:avLst/>
            <a:gdLst/>
            <a:ahLst/>
            <a:cxnLst/>
            <a:rect r="r" b="b" t="t" l="l"/>
            <a:pathLst>
              <a:path h="565052" w="7523778">
                <a:moveTo>
                  <a:pt x="0" y="0"/>
                </a:moveTo>
                <a:lnTo>
                  <a:pt x="7523778" y="0"/>
                </a:lnTo>
                <a:lnTo>
                  <a:pt x="7523778" y="565051"/>
                </a:lnTo>
                <a:lnTo>
                  <a:pt x="0" y="5650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209235" y="9237574"/>
            <a:ext cx="3395205" cy="1049426"/>
          </a:xfrm>
          <a:custGeom>
            <a:avLst/>
            <a:gdLst/>
            <a:ahLst/>
            <a:cxnLst/>
            <a:rect r="r" b="b" t="t" l="l"/>
            <a:pathLst>
              <a:path h="1049426" w="3395205">
                <a:moveTo>
                  <a:pt x="3395206" y="0"/>
                </a:moveTo>
                <a:lnTo>
                  <a:pt x="0" y="0"/>
                </a:lnTo>
                <a:lnTo>
                  <a:pt x="0" y="1049426"/>
                </a:lnTo>
                <a:lnTo>
                  <a:pt x="3395206" y="1049426"/>
                </a:lnTo>
                <a:lnTo>
                  <a:pt x="339520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749" r="0" b="-74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43134" y="8935841"/>
            <a:ext cx="19974277" cy="1565643"/>
          </a:xfrm>
          <a:custGeom>
            <a:avLst/>
            <a:gdLst/>
            <a:ahLst/>
            <a:cxnLst/>
            <a:rect r="r" b="b" t="t" l="l"/>
            <a:pathLst>
              <a:path h="1565643" w="19974277">
                <a:moveTo>
                  <a:pt x="0" y="0"/>
                </a:moveTo>
                <a:lnTo>
                  <a:pt x="19974277" y="0"/>
                </a:lnTo>
                <a:lnTo>
                  <a:pt x="19974277" y="1565643"/>
                </a:lnTo>
                <a:lnTo>
                  <a:pt x="0" y="15656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8732" y="1618317"/>
            <a:ext cx="7303228" cy="5979860"/>
          </a:xfrm>
          <a:custGeom>
            <a:avLst/>
            <a:gdLst/>
            <a:ahLst/>
            <a:cxnLst/>
            <a:rect r="r" b="b" t="t" l="l"/>
            <a:pathLst>
              <a:path h="5979860" w="7303228">
                <a:moveTo>
                  <a:pt x="0" y="0"/>
                </a:moveTo>
                <a:lnTo>
                  <a:pt x="7303228" y="0"/>
                </a:lnTo>
                <a:lnTo>
                  <a:pt x="7303228" y="5979860"/>
                </a:lnTo>
                <a:lnTo>
                  <a:pt x="0" y="597986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763" r="0" b="-76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530645" y="1022271"/>
            <a:ext cx="7447036" cy="90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2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42732" y="2429628"/>
            <a:ext cx="7204434" cy="521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5224"/>
              </a:lnSpc>
              <a:buFont typeface="Arial"/>
              <a:buChar char="•"/>
            </a:pPr>
            <a:r>
              <a:rPr lang="en-US" sz="2499" spc="-4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Test  Accuracy: 97.7%</a:t>
            </a:r>
          </a:p>
          <a:p>
            <a:pPr algn="l" marL="539749" indent="-269875" lvl="1">
              <a:lnSpc>
                <a:spcPts val="5224"/>
              </a:lnSpc>
              <a:buFont typeface="Arial"/>
              <a:buChar char="•"/>
            </a:pPr>
            <a:r>
              <a:rPr lang="en-US" sz="2499" spc="-4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Test Loss: 6.2%</a:t>
            </a:r>
          </a:p>
          <a:p>
            <a:pPr algn="l" marL="539749" indent="-269875" lvl="1">
              <a:lnSpc>
                <a:spcPts val="5224"/>
              </a:lnSpc>
              <a:buFont typeface="Arial"/>
              <a:buChar char="•"/>
            </a:pPr>
            <a:r>
              <a:rPr lang="en-US" sz="2499" spc="-4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Model shows high precision and recall across all classes</a:t>
            </a:r>
          </a:p>
          <a:p>
            <a:pPr algn="l" marL="539749" indent="-269875" lvl="1">
              <a:lnSpc>
                <a:spcPts val="5224"/>
              </a:lnSpc>
              <a:buFont typeface="Arial"/>
              <a:buChar char="•"/>
            </a:pPr>
            <a:r>
              <a:rPr lang="en-US" sz="2499" spc="-4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Indicates very few false predictions and missed cases</a:t>
            </a:r>
          </a:p>
          <a:p>
            <a:pPr algn="l" marL="539749" indent="-269875" lvl="1">
              <a:lnSpc>
                <a:spcPts val="5224"/>
              </a:lnSpc>
              <a:buFont typeface="Arial"/>
              <a:buChar char="•"/>
            </a:pPr>
            <a:r>
              <a:rPr lang="en-US" sz="2499" spc="-4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F-1 scores shows how strong and balanced models performance.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84937"/>
            <a:ext cx="9200559" cy="56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0"/>
              </a:lnSpc>
            </a:pPr>
            <a:r>
              <a:rPr lang="en-US" sz="330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Performance &amp; Evaluation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9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0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09662" y="-911619"/>
            <a:ext cx="2942272" cy="2942272"/>
          </a:xfrm>
          <a:custGeom>
            <a:avLst/>
            <a:gdLst/>
            <a:ahLst/>
            <a:cxnLst/>
            <a:rect r="r" b="b" t="t" l="l"/>
            <a:pathLst>
              <a:path h="2942272" w="2942272">
                <a:moveTo>
                  <a:pt x="0" y="0"/>
                </a:moveTo>
                <a:lnTo>
                  <a:pt x="2942272" y="0"/>
                </a:lnTo>
                <a:lnTo>
                  <a:pt x="2942272" y="2942273"/>
                </a:lnTo>
                <a:lnTo>
                  <a:pt x="0" y="2942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7626" y="807228"/>
            <a:ext cx="7281177" cy="7434507"/>
          </a:xfrm>
          <a:custGeom>
            <a:avLst/>
            <a:gdLst/>
            <a:ahLst/>
            <a:cxnLst/>
            <a:rect r="r" b="b" t="t" l="l"/>
            <a:pathLst>
              <a:path h="7434507" w="7281177">
                <a:moveTo>
                  <a:pt x="0" y="0"/>
                </a:moveTo>
                <a:lnTo>
                  <a:pt x="7281177" y="0"/>
                </a:lnTo>
                <a:lnTo>
                  <a:pt x="7281177" y="7434507"/>
                </a:lnTo>
                <a:lnTo>
                  <a:pt x="0" y="74345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4697" y="8061246"/>
            <a:ext cx="7523778" cy="565052"/>
          </a:xfrm>
          <a:custGeom>
            <a:avLst/>
            <a:gdLst/>
            <a:ahLst/>
            <a:cxnLst/>
            <a:rect r="r" b="b" t="t" l="l"/>
            <a:pathLst>
              <a:path h="565052" w="7523778">
                <a:moveTo>
                  <a:pt x="0" y="0"/>
                </a:moveTo>
                <a:lnTo>
                  <a:pt x="7523778" y="0"/>
                </a:lnTo>
                <a:lnTo>
                  <a:pt x="7523778" y="565051"/>
                </a:lnTo>
                <a:lnTo>
                  <a:pt x="0" y="5650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209235" y="9237574"/>
            <a:ext cx="3395205" cy="1049426"/>
          </a:xfrm>
          <a:custGeom>
            <a:avLst/>
            <a:gdLst/>
            <a:ahLst/>
            <a:cxnLst/>
            <a:rect r="r" b="b" t="t" l="l"/>
            <a:pathLst>
              <a:path h="1049426" w="3395205">
                <a:moveTo>
                  <a:pt x="3395206" y="0"/>
                </a:moveTo>
                <a:lnTo>
                  <a:pt x="0" y="0"/>
                </a:lnTo>
                <a:lnTo>
                  <a:pt x="0" y="1049426"/>
                </a:lnTo>
                <a:lnTo>
                  <a:pt x="3395206" y="1049426"/>
                </a:lnTo>
                <a:lnTo>
                  <a:pt x="339520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749" r="0" b="-74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43134" y="8935841"/>
            <a:ext cx="19974277" cy="1565643"/>
          </a:xfrm>
          <a:custGeom>
            <a:avLst/>
            <a:gdLst/>
            <a:ahLst/>
            <a:cxnLst/>
            <a:rect r="r" b="b" t="t" l="l"/>
            <a:pathLst>
              <a:path h="1565643" w="19974277">
                <a:moveTo>
                  <a:pt x="0" y="0"/>
                </a:moveTo>
                <a:lnTo>
                  <a:pt x="19974277" y="0"/>
                </a:lnTo>
                <a:lnTo>
                  <a:pt x="19974277" y="1565643"/>
                </a:lnTo>
                <a:lnTo>
                  <a:pt x="0" y="15656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05509" y="2404249"/>
            <a:ext cx="8003526" cy="5036527"/>
          </a:xfrm>
          <a:custGeom>
            <a:avLst/>
            <a:gdLst/>
            <a:ahLst/>
            <a:cxnLst/>
            <a:rect r="r" b="b" t="t" l="l"/>
            <a:pathLst>
              <a:path h="5036527" w="8003526">
                <a:moveTo>
                  <a:pt x="0" y="0"/>
                </a:moveTo>
                <a:lnTo>
                  <a:pt x="8003526" y="0"/>
                </a:lnTo>
                <a:lnTo>
                  <a:pt x="8003526" y="5036527"/>
                </a:lnTo>
                <a:lnTo>
                  <a:pt x="0" y="50365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-9973" b="-2953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4369" y="1022271"/>
            <a:ext cx="7447036" cy="90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299" b="true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4369" y="2598217"/>
            <a:ext cx="7204434" cy="4744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5433"/>
              </a:lnSpc>
              <a:buFont typeface="Arial"/>
              <a:buChar char="•"/>
            </a:pPr>
            <a:r>
              <a:rPr lang="en-US" sz="2599" spc="-4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Dataset split:- 80:20</a:t>
            </a:r>
          </a:p>
          <a:p>
            <a:pPr algn="l" marL="561339" indent="-280669" lvl="1">
              <a:lnSpc>
                <a:spcPts val="5433"/>
              </a:lnSpc>
              <a:buFont typeface="Arial"/>
              <a:buChar char="•"/>
            </a:pPr>
            <a:r>
              <a:rPr lang="en-US" sz="2599" spc="-4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Accuracy increases steadily during training</a:t>
            </a:r>
          </a:p>
          <a:p>
            <a:pPr algn="l" marL="561339" indent="-280669" lvl="1">
              <a:lnSpc>
                <a:spcPts val="5433"/>
              </a:lnSpc>
              <a:buFont typeface="Arial"/>
              <a:buChar char="•"/>
            </a:pPr>
            <a:r>
              <a:rPr lang="en-US" sz="2599" spc="-4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Loss decreases consistently over eopchs</a:t>
            </a:r>
          </a:p>
          <a:p>
            <a:pPr algn="l" marL="561339" indent="-280669" lvl="1">
              <a:lnSpc>
                <a:spcPts val="5433"/>
              </a:lnSpc>
              <a:buFont typeface="Arial"/>
              <a:buChar char="•"/>
            </a:pPr>
            <a:r>
              <a:rPr lang="en-US" sz="2599" spc="-4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Training and validation curves are closely aligned in the last epochs.</a:t>
            </a:r>
          </a:p>
          <a:p>
            <a:pPr algn="l" marL="561339" indent="-280669" lvl="1">
              <a:lnSpc>
                <a:spcPts val="5433"/>
              </a:lnSpc>
              <a:buFont typeface="Arial"/>
              <a:buChar char="•"/>
            </a:pPr>
            <a:r>
              <a:rPr lang="en-US" sz="2599" spc="-5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Model shows stable and reliable learning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08475" y="740553"/>
            <a:ext cx="9200559" cy="59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0"/>
              </a:lnSpc>
            </a:pPr>
            <a:r>
              <a:rPr lang="en-US" sz="350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Training vs validation performance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9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06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2726" y="823389"/>
            <a:ext cx="16230600" cy="7545848"/>
          </a:xfrm>
          <a:custGeom>
            <a:avLst/>
            <a:gdLst/>
            <a:ahLst/>
            <a:cxnLst/>
            <a:rect r="r" b="b" t="t" l="l"/>
            <a:pathLst>
              <a:path h="7545848" w="16230600">
                <a:moveTo>
                  <a:pt x="0" y="0"/>
                </a:moveTo>
                <a:lnTo>
                  <a:pt x="16230600" y="0"/>
                </a:lnTo>
                <a:lnTo>
                  <a:pt x="16230600" y="7545847"/>
                </a:lnTo>
                <a:lnTo>
                  <a:pt x="0" y="75458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08309" y="6533197"/>
            <a:ext cx="1949377" cy="1949377"/>
          </a:xfrm>
          <a:custGeom>
            <a:avLst/>
            <a:gdLst/>
            <a:ahLst/>
            <a:cxnLst/>
            <a:rect r="r" b="b" t="t" l="l"/>
            <a:pathLst>
              <a:path h="1949377" w="1949377">
                <a:moveTo>
                  <a:pt x="0" y="0"/>
                </a:moveTo>
                <a:lnTo>
                  <a:pt x="1949377" y="0"/>
                </a:lnTo>
                <a:lnTo>
                  <a:pt x="1949377" y="1949377"/>
                </a:lnTo>
                <a:lnTo>
                  <a:pt x="0" y="19493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84877" y="1028700"/>
            <a:ext cx="3395205" cy="1049426"/>
          </a:xfrm>
          <a:custGeom>
            <a:avLst/>
            <a:gdLst/>
            <a:ahLst/>
            <a:cxnLst/>
            <a:rect r="r" b="b" t="t" l="l"/>
            <a:pathLst>
              <a:path h="1049426" w="3395205">
                <a:moveTo>
                  <a:pt x="0" y="0"/>
                </a:moveTo>
                <a:lnTo>
                  <a:pt x="3395206" y="0"/>
                </a:lnTo>
                <a:lnTo>
                  <a:pt x="3395206" y="1049426"/>
                </a:lnTo>
                <a:lnTo>
                  <a:pt x="0" y="1049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49" r="0" b="-74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27756" y="990524"/>
            <a:ext cx="9200559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SUMMARY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843134" y="8935841"/>
            <a:ext cx="19974277" cy="1565643"/>
          </a:xfrm>
          <a:custGeom>
            <a:avLst/>
            <a:gdLst/>
            <a:ahLst/>
            <a:cxnLst/>
            <a:rect r="r" b="b" t="t" l="l"/>
            <a:pathLst>
              <a:path h="1565643" w="19974277">
                <a:moveTo>
                  <a:pt x="0" y="0"/>
                </a:moveTo>
                <a:lnTo>
                  <a:pt x="19974277" y="0"/>
                </a:lnTo>
                <a:lnTo>
                  <a:pt x="19974277" y="1565643"/>
                </a:lnTo>
                <a:lnTo>
                  <a:pt x="0" y="15656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04295" y="2147545"/>
            <a:ext cx="15028421" cy="544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6270"/>
              </a:lnSpc>
              <a:buFont typeface="Arial"/>
              <a:buChar char="•"/>
            </a:pP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Analysis show</a:t>
            </a: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 wha</a:t>
            </a:r>
            <a:r>
              <a:rPr lang="en-US" sz="3000" spc="-9" u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fa</a:t>
            </a:r>
            <a:r>
              <a:rPr lang="en-US" sz="3000" spc="-9" u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tors imp</a:t>
            </a:r>
            <a:r>
              <a:rPr lang="en-US" sz="3000" spc="-9" u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</a:t>
            </a: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ct</a:t>
            </a:r>
            <a:r>
              <a:rPr lang="en-US" sz="3000" spc="-9" u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me</a:t>
            </a:r>
            <a:r>
              <a:rPr lang="en-US" sz="3000" spc="-9" u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</a:t>
            </a: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lang="en-US" sz="3000" spc="-9" u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al</a:t>
            </a: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‑health r</a:t>
            </a:r>
            <a:r>
              <a:rPr lang="en-US" sz="3000" spc="-9" u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is</a:t>
            </a: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k the most.</a:t>
            </a:r>
          </a:p>
          <a:p>
            <a:pPr algn="l" marL="647700" indent="-323850" lvl="1">
              <a:lnSpc>
                <a:spcPts val="6270"/>
              </a:lnSpc>
              <a:buFont typeface="Arial"/>
              <a:buChar char="•"/>
            </a:pP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Depression, anxiety,</a:t>
            </a: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and low sleep hour</a:t>
            </a: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 pu</a:t>
            </a: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sh risk up.</a:t>
            </a:r>
          </a:p>
          <a:p>
            <a:pPr algn="l" marL="647700" indent="-323850" lvl="1">
              <a:lnSpc>
                <a:spcPts val="6270"/>
              </a:lnSpc>
              <a:buFont typeface="Arial"/>
              <a:buChar char="•"/>
            </a:pP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More productivity, sleep, and having </a:t>
            </a: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support help lower risk.</a:t>
            </a:r>
          </a:p>
          <a:p>
            <a:pPr algn="l" marL="647700" indent="-323850" lvl="1">
              <a:lnSpc>
                <a:spcPts val="6270"/>
              </a:lnSpc>
              <a:buFont typeface="Arial"/>
              <a:buChar char="•"/>
            </a:pP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Correlation analysis made it clear which features matte</a:t>
            </a: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r.</a:t>
            </a:r>
          </a:p>
          <a:p>
            <a:pPr algn="l" marL="647700" indent="-323850" lvl="1">
              <a:lnSpc>
                <a:spcPts val="6270"/>
              </a:lnSpc>
              <a:buFont typeface="Arial"/>
              <a:buChar char="•"/>
            </a:pP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ANN model performed really well on both training and unseen test data.</a:t>
            </a:r>
          </a:p>
          <a:p>
            <a:pPr algn="l" marL="647700" indent="-323850" lvl="1">
              <a:lnSpc>
                <a:spcPts val="6270"/>
              </a:lnSpc>
              <a:buFont typeface="Arial"/>
              <a:buChar char="•"/>
            </a:pPr>
            <a:r>
              <a:rPr lang="en-US" sz="3000" spc="-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Model can predict Low/Medium/High risk with high accuracy and stable performance</a:t>
            </a:r>
          </a:p>
          <a:p>
            <a:pPr algn="l" marL="1225550" indent="-306387" lvl="3">
              <a:lnSpc>
                <a:spcPts val="627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DAHGyTAgfFQ</dc:identifier>
  <dcterms:modified xsi:type="dcterms:W3CDTF">2011-08-01T06:04:30Z</dcterms:modified>
  <cp:revision>1</cp:revision>
  <dc:title>Mental Health Analysis.pptx</dc:title>
</cp:coreProperties>
</file>